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2192000" cy="6858000"/>
  <p:notesSz cx="6858000" cy="9144000"/>
  <p:embeddedFontLst>
    <p:embeddedFont>
      <p:font typeface="Cambria" panose="02040503050406030204" pitchFamily="18" charset="0"/>
      <p:regular r:id="rId54"/>
      <p:bold r:id="rId55"/>
      <p:italic r:id="rId56"/>
      <p:boldItalic r:id="rId57"/>
    </p:embeddedFont>
    <p:embeddedFont>
      <p:font typeface="Gill Sans" panose="020B0604020202020204" charset="0"/>
      <p:regular r:id="rId58"/>
      <p:bold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4" roundtripDataSignature="AMtx7mj+QiY8+tGDTQhqpku5UfwX1jy5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584C3D5-BA56-4CB6-A2EC-A6B4E8D0C348}">
  <a:tblStyle styleId="{B584C3D5-BA56-4CB6-A2EC-A6B4E8D0C34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2.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6283316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493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985745750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9857457505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g39857457505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767468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6667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6493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8223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2183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8028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5387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3537742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3462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1353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7556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9889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0185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2173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3454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5368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35648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81357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74898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8187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48832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8539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37690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06275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74693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2470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99190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35447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99635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31592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22664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64564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66219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03523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66380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9451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46922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10323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32973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11455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38716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07716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09805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8589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3762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56652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9" name="Google Shape;429;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52219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72948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07395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1210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5" name="Google Shape;35;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5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5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5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5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5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5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5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5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5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6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60"/>
          <p:cNvSpPr>
            <a:spLocks noGrp="1"/>
          </p:cNvSpPr>
          <p:nvPr>
            <p:ph type="pic" idx="2"/>
          </p:nvPr>
        </p:nvSpPr>
        <p:spPr>
          <a:xfrm>
            <a:off x="5183188" y="987425"/>
            <a:ext cx="6172200" cy="4873625"/>
          </a:xfrm>
          <a:prstGeom prst="rect">
            <a:avLst/>
          </a:prstGeom>
          <a:noFill/>
          <a:ln>
            <a:noFill/>
          </a:ln>
        </p:spPr>
      </p:sp>
      <p:sp>
        <p:nvSpPr>
          <p:cNvPr id="68" name="Google Shape;68;p6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6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6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6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developer.android.com/topic/libraries/architecture/workmanager/advanced/long-running"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hyperlink" Target="https://data-flair.training/blogs/android-application-components/"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5" name="object 3"/>
          <p:cNvSpPr/>
          <p:nvPr/>
        </p:nvSpPr>
        <p:spPr>
          <a:xfrm>
            <a:off x="1431607" y="2625077"/>
            <a:ext cx="9702017" cy="1434905"/>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pPr lvl="0" algn="ctr">
              <a:lnSpc>
                <a:spcPct val="90000"/>
              </a:lnSpc>
              <a:buClr>
                <a:schemeClr val="dk1"/>
              </a:buClr>
              <a:buSzPts val="2400"/>
            </a:pPr>
            <a:r>
              <a:rPr lang="en-US" sz="4000" b="1" dirty="0">
                <a:solidFill>
                  <a:schemeClr val="bg1"/>
                </a:solidFill>
                <a:latin typeface="Cambria"/>
                <a:ea typeface="Cambria"/>
                <a:cs typeface="Cambria"/>
                <a:sym typeface="Cambria"/>
              </a:rPr>
              <a:t>ANDROID COMPONENTS &amp; RESOURCE HANDLING</a:t>
            </a:r>
          </a:p>
        </p:txBody>
      </p:sp>
      <p:pic>
        <p:nvPicPr>
          <p:cNvPr id="7" name="Picture 6"/>
          <p:cNvPicPr>
            <a:picLocks noChangeAspect="1"/>
          </p:cNvPicPr>
          <p:nvPr/>
        </p:nvPicPr>
        <p:blipFill>
          <a:blip r:embed="rId3"/>
          <a:stretch>
            <a:fillRect/>
          </a:stretch>
        </p:blipFill>
        <p:spPr>
          <a:xfrm>
            <a:off x="0" y="-56271"/>
            <a:ext cx="12051323" cy="869854"/>
          </a:xfrm>
          <a:prstGeom prst="rect">
            <a:avLst/>
          </a:prstGeom>
        </p:spPr>
      </p:pic>
      <p:sp>
        <p:nvSpPr>
          <p:cNvPr id="8" name="Rectangle 7"/>
          <p:cNvSpPr/>
          <p:nvPr/>
        </p:nvSpPr>
        <p:spPr>
          <a:xfrm>
            <a:off x="342741" y="5601409"/>
            <a:ext cx="3832829" cy="954107"/>
          </a:xfrm>
          <a:prstGeom prst="rect">
            <a:avLst/>
          </a:prstGeom>
        </p:spPr>
        <p:txBody>
          <a:bodyPr wrap="square">
            <a:spAutoFit/>
          </a:bodyPr>
          <a:lstStyle/>
          <a:p>
            <a:r>
              <a:rPr lang="en-US" sz="2700" b="1" dirty="0">
                <a:latin typeface="Cambria" panose="02040503050406030204" pitchFamily="18" charset="0"/>
                <a:ea typeface="Cambria" panose="02040503050406030204" pitchFamily="18" charset="0"/>
                <a:cs typeface="Times New Roman" panose="02020603050405020304" pitchFamily="18" charset="0"/>
              </a:rPr>
              <a:t>Prof. </a:t>
            </a:r>
            <a:r>
              <a:rPr lang="en-US" sz="2700" b="1" dirty="0">
                <a:latin typeface="Calibri" panose="020F0502020204030204" pitchFamily="34" charset="0"/>
                <a:ea typeface="Calibri" panose="020F0502020204030204" pitchFamily="34" charset="0"/>
                <a:cs typeface="Times New Roman" panose="02020603050405020304" pitchFamily="18" charset="0"/>
              </a:rPr>
              <a:t>Ashwani Mishra</a:t>
            </a:r>
            <a:br>
              <a:rPr lang="en-US" sz="1058" b="1" dirty="0">
                <a:latin typeface="Cambria" panose="02040503050406030204" pitchFamily="18" charset="0"/>
                <a:ea typeface="Cambria" panose="02040503050406030204" pitchFamily="18" charset="0"/>
                <a:cs typeface="Times New Roman" panose="02020603050405020304" pitchFamily="18" charset="0"/>
              </a:rPr>
            </a:br>
            <a:r>
              <a:rPr lang="en-US" b="1" dirty="0">
                <a:latin typeface="Cambria" panose="02040503050406030204" pitchFamily="18" charset="0"/>
                <a:ea typeface="Cambria" panose="02040503050406030204" pitchFamily="18" charset="0"/>
                <a:cs typeface="Times New Roman" panose="02020603050405020304" pitchFamily="18" charset="0"/>
              </a:rPr>
              <a:t>Assistant Professor</a:t>
            </a:r>
            <a:endParaRPr lang="en-US" dirty="0">
              <a:latin typeface="Cambria" panose="02040503050406030204" pitchFamily="18" charset="0"/>
              <a:ea typeface="Cambria" panose="02040503050406030204" pitchFamily="18" charset="0"/>
              <a:cs typeface="Times New Roman" panose="02020603050405020304" pitchFamily="18" charset="0"/>
            </a:endParaRPr>
          </a:p>
          <a:p>
            <a:r>
              <a:rPr lang="en-US" sz="1500" b="1" dirty="0">
                <a:latin typeface="Cambria" panose="02040503050406030204" pitchFamily="18" charset="0"/>
                <a:ea typeface="Cambria" panose="02040503050406030204" pitchFamily="18" charset="0"/>
                <a:cs typeface="Times New Roman" panose="02020603050405020304" pitchFamily="18" charset="0"/>
              </a:rPr>
              <a:t>CSE Department</a:t>
            </a:r>
            <a:endParaRPr lang="en-US" sz="1500" dirty="0">
              <a:latin typeface="Cambria" panose="020405030504060302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g39857457505_0_0"/>
          <p:cNvSpPr txBox="1">
            <a:spLocks noGrp="1"/>
          </p:cNvSpPr>
          <p:nvPr>
            <p:ph type="subTitle" idx="1"/>
          </p:nvPr>
        </p:nvSpPr>
        <p:spPr>
          <a:xfrm>
            <a:off x="1524000" y="3602038"/>
            <a:ext cx="9144000" cy="1655700"/>
          </a:xfrm>
          <a:prstGeom prst="rect">
            <a:avLst/>
          </a:prstGeom>
        </p:spPr>
        <p:txBody>
          <a:bodyPr spcFirstLastPara="1" wrap="square" lIns="91425" tIns="45700" rIns="91425" bIns="45700" anchor="t" anchorCtr="0">
            <a:normAutofit/>
          </a:bodyPr>
          <a:lstStyle/>
          <a:p>
            <a:pPr marL="0" lvl="0" indent="0" algn="ctr" rtl="0">
              <a:spcBef>
                <a:spcPts val="1000"/>
              </a:spcBef>
              <a:spcAft>
                <a:spcPts val="0"/>
              </a:spcAft>
              <a:buNone/>
            </a:pPr>
            <a:endParaRPr/>
          </a:p>
        </p:txBody>
      </p:sp>
      <p:graphicFrame>
        <p:nvGraphicFramePr>
          <p:cNvPr id="97" name="Google Shape;97;g39857457505_0_0"/>
          <p:cNvGraphicFramePr/>
          <p:nvPr/>
        </p:nvGraphicFramePr>
        <p:xfrm>
          <a:off x="4879584" y="742909"/>
          <a:ext cx="2337775" cy="476225"/>
        </p:xfrm>
        <a:graphic>
          <a:graphicData uri="http://schemas.openxmlformats.org/drawingml/2006/table">
            <a:tbl>
              <a:tblPr>
                <a:noFill/>
                <a:tableStyleId>{B584C3D5-BA56-4CB6-A2EC-A6B4E8D0C348}</a:tableStyleId>
              </a:tblPr>
              <a:tblGrid>
                <a:gridCol w="2337775">
                  <a:extLst>
                    <a:ext uri="{9D8B030D-6E8A-4147-A177-3AD203B41FA5}">
                      <a16:colId xmlns:a16="http://schemas.microsoft.com/office/drawing/2014/main" val="20000"/>
                    </a:ext>
                  </a:extLst>
                </a:gridCol>
              </a:tblGrid>
              <a:tr h="476225">
                <a:tc>
                  <a:txBody>
                    <a:bodyPr/>
                    <a:lstStyle/>
                    <a:p>
                      <a:pPr marL="0" marR="0" lvl="0" indent="0" algn="ctr" rtl="0">
                        <a:spcBef>
                          <a:spcPts val="0"/>
                        </a:spcBef>
                        <a:spcAft>
                          <a:spcPts val="0"/>
                        </a:spcAft>
                        <a:buClr>
                          <a:srgbClr val="000000"/>
                        </a:buClr>
                        <a:buSzPts val="1800"/>
                        <a:buFont typeface="Calibri"/>
                        <a:buNone/>
                      </a:pPr>
                      <a:r>
                        <a:rPr lang="en-US" sz="1800" b="1" u="none" strike="noStrike" cap="none">
                          <a:solidFill>
                            <a:srgbClr val="000000"/>
                          </a:solidFill>
                          <a:latin typeface="Cambria"/>
                          <a:ea typeface="Cambria"/>
                          <a:cs typeface="Cambria"/>
                          <a:sym typeface="Cambria"/>
                        </a:rPr>
                        <a:t>Lesson Plan</a:t>
                      </a:r>
                      <a:endParaRPr sz="1800" b="1" u="none" strike="noStrike" cap="none">
                        <a:latin typeface="Cambria"/>
                        <a:ea typeface="Cambria"/>
                        <a:cs typeface="Cambria"/>
                        <a:sym typeface="Cambria"/>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98" name="Google Shape;98;g39857457505_0_0"/>
          <p:cNvGraphicFramePr/>
          <p:nvPr/>
        </p:nvGraphicFramePr>
        <p:xfrm>
          <a:off x="2512859" y="1845580"/>
          <a:ext cx="7166300" cy="950996"/>
        </p:xfrm>
        <a:graphic>
          <a:graphicData uri="http://schemas.openxmlformats.org/drawingml/2006/table">
            <a:tbl>
              <a:tblPr>
                <a:noFill/>
                <a:tableStyleId>{B584C3D5-BA56-4CB6-A2EC-A6B4E8D0C348}</a:tableStyleId>
              </a:tblPr>
              <a:tblGrid>
                <a:gridCol w="3583150">
                  <a:extLst>
                    <a:ext uri="{9D8B030D-6E8A-4147-A177-3AD203B41FA5}">
                      <a16:colId xmlns:a16="http://schemas.microsoft.com/office/drawing/2014/main" val="20000"/>
                    </a:ext>
                  </a:extLst>
                </a:gridCol>
                <a:gridCol w="3583150">
                  <a:extLst>
                    <a:ext uri="{9D8B030D-6E8A-4147-A177-3AD203B41FA5}">
                      <a16:colId xmlns:a16="http://schemas.microsoft.com/office/drawing/2014/main" val="20001"/>
                    </a:ext>
                  </a:extLst>
                </a:gridCol>
              </a:tblGrid>
              <a:tr h="203950">
                <a:tc>
                  <a:txBody>
                    <a:bodyPr/>
                    <a:lstStyle/>
                    <a:p>
                      <a:pPr marL="0" marR="0" lvl="0" indent="0" algn="ctr" rtl="0">
                        <a:spcBef>
                          <a:spcPts val="0"/>
                        </a:spcBef>
                        <a:spcAft>
                          <a:spcPts val="0"/>
                        </a:spcAft>
                        <a:buClr>
                          <a:srgbClr val="000000"/>
                        </a:buClr>
                        <a:buSzPts val="1800"/>
                        <a:buFont typeface="Calibri"/>
                        <a:buNone/>
                      </a:pPr>
                      <a:r>
                        <a:rPr lang="en-US" sz="1800" b="1" u="none" strike="noStrike" cap="none">
                          <a:latin typeface="Cambria"/>
                          <a:ea typeface="Cambria"/>
                          <a:cs typeface="Cambria"/>
                          <a:sym typeface="Cambria"/>
                        </a:rPr>
                        <a:t>Subject/Course</a:t>
                      </a:r>
                      <a:endParaRPr sz="1800" b="1" u="none" strike="noStrike" cap="none">
                        <a:latin typeface="Cambria"/>
                        <a:ea typeface="Cambria"/>
                        <a:cs typeface="Cambria"/>
                        <a:sym typeface="Cambria"/>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70C0"/>
                        </a:buClr>
                        <a:buSzPts val="1800"/>
                        <a:buFont typeface="Calibri"/>
                        <a:buNone/>
                      </a:pPr>
                      <a:r>
                        <a:rPr lang="en-US" sz="1800" b="1" u="none" strike="noStrike" cap="none">
                          <a:solidFill>
                            <a:srgbClr val="0070C0"/>
                          </a:solidFill>
                          <a:latin typeface="Cambria"/>
                          <a:ea typeface="Cambria"/>
                          <a:cs typeface="Cambria"/>
                          <a:sym typeface="Cambria"/>
                        </a:rPr>
                        <a:t>Mobile App Development</a:t>
                      </a:r>
                      <a:endParaRPr sz="1800" b="1" u="none" strike="noStrike" cap="none">
                        <a:solidFill>
                          <a:srgbClr val="0070C0"/>
                        </a:solidFill>
                        <a:latin typeface="Cambria"/>
                        <a:ea typeface="Cambria"/>
                        <a:cs typeface="Cambria"/>
                        <a:sym typeface="Cambria"/>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FF"/>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03950">
                <a:tc>
                  <a:txBody>
                    <a:bodyPr/>
                    <a:lstStyle/>
                    <a:p>
                      <a:pPr marL="0" marR="0" lvl="0" indent="0" algn="ctr" rtl="0">
                        <a:spcBef>
                          <a:spcPts val="0"/>
                        </a:spcBef>
                        <a:spcAft>
                          <a:spcPts val="0"/>
                        </a:spcAft>
                        <a:buClr>
                          <a:srgbClr val="000000"/>
                        </a:buClr>
                        <a:buSzPts val="1800"/>
                        <a:buFont typeface="Calibri"/>
                        <a:buNone/>
                      </a:pPr>
                      <a:r>
                        <a:rPr lang="en-US" sz="1800" b="1" u="none" strike="noStrike" cap="none">
                          <a:latin typeface="Cambria"/>
                          <a:ea typeface="Cambria"/>
                          <a:cs typeface="Cambria"/>
                          <a:sym typeface="Cambria"/>
                        </a:rPr>
                        <a:t>Lesson Title</a:t>
                      </a:r>
                      <a:endParaRPr sz="1800" b="1" u="none" strike="noStrike" cap="none">
                        <a:latin typeface="Cambria"/>
                        <a:ea typeface="Cambria"/>
                        <a:cs typeface="Cambria"/>
                        <a:sym typeface="Cambria"/>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FF"/>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90000"/>
                        </a:lnSpc>
                        <a:spcBef>
                          <a:spcPts val="0"/>
                        </a:spcBef>
                        <a:spcAft>
                          <a:spcPts val="0"/>
                        </a:spcAft>
                        <a:buClr>
                          <a:schemeClr val="dk1"/>
                        </a:buClr>
                        <a:buSzPts val="2400"/>
                        <a:buFont typeface="Arial"/>
                        <a:buNone/>
                      </a:pPr>
                      <a:r>
                        <a:rPr lang="en-US" sz="1800" b="1">
                          <a:solidFill>
                            <a:srgbClr val="0563C1"/>
                          </a:solidFill>
                          <a:latin typeface="Cambria"/>
                          <a:ea typeface="Cambria"/>
                          <a:cs typeface="Cambria"/>
                          <a:sym typeface="Cambria"/>
                        </a:rPr>
                        <a:t>Android Components &amp; Resource Handling</a:t>
                      </a:r>
                      <a:endParaRPr sz="1800" b="1">
                        <a:solidFill>
                          <a:srgbClr val="0563C1"/>
                        </a:solidFill>
                        <a:latin typeface="Cambria"/>
                        <a:ea typeface="Cambria"/>
                        <a:cs typeface="Cambria"/>
                        <a:sym typeface="Cambria"/>
                      </a:endParaRPr>
                    </a:p>
                  </a:txBody>
                  <a:tcPr marL="91450" marR="91450" marT="45725" marB="45725" anchor="ctr">
                    <a:lnL w="12700" cap="flat" cmpd="sng">
                      <a:solidFill>
                        <a:srgbClr val="0000FF"/>
                      </a:solidFill>
                      <a:prstDash val="solid"/>
                      <a:round/>
                      <a:headEnd type="none" w="sm" len="sm"/>
                      <a:tailEnd type="none" w="sm" len="sm"/>
                    </a:lnL>
                    <a:lnR w="12700" cap="flat" cmpd="sng">
                      <a:solidFill>
                        <a:srgbClr val="0000FF"/>
                      </a:solidFill>
                      <a:prstDash val="solid"/>
                      <a:round/>
                      <a:headEnd type="none" w="sm" len="sm"/>
                      <a:tailEnd type="none" w="sm" len="sm"/>
                    </a:lnR>
                    <a:lnT w="12700" cap="flat" cmpd="sng">
                      <a:solidFill>
                        <a:srgbClr val="0000FF"/>
                      </a:solidFill>
                      <a:prstDash val="solid"/>
                      <a:round/>
                      <a:headEnd type="none" w="sm" len="sm"/>
                      <a:tailEnd type="none" w="sm" len="sm"/>
                    </a:lnT>
                    <a:lnB w="12700" cap="flat" cmpd="sng">
                      <a:solidFill>
                        <a:srgbClr val="0000F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graphicFrame>
        <p:nvGraphicFramePr>
          <p:cNvPr id="99" name="Google Shape;99;g39857457505_0_0"/>
          <p:cNvGraphicFramePr/>
          <p:nvPr/>
        </p:nvGraphicFramePr>
        <p:xfrm>
          <a:off x="1524006" y="3477842"/>
          <a:ext cx="10063950" cy="1904160"/>
        </p:xfrm>
        <a:graphic>
          <a:graphicData uri="http://schemas.openxmlformats.org/drawingml/2006/table">
            <a:tbl>
              <a:tblPr>
                <a:noFill/>
                <a:tableStyleId>{B584C3D5-BA56-4CB6-A2EC-A6B4E8D0C348}</a:tableStyleId>
              </a:tblPr>
              <a:tblGrid>
                <a:gridCol w="10063950">
                  <a:extLst>
                    <a:ext uri="{9D8B030D-6E8A-4147-A177-3AD203B41FA5}">
                      <a16:colId xmlns:a16="http://schemas.microsoft.com/office/drawing/2014/main" val="20000"/>
                    </a:ext>
                  </a:extLst>
                </a:gridCol>
              </a:tblGrid>
              <a:tr h="261550">
                <a:tc>
                  <a:txBody>
                    <a:bodyPr/>
                    <a:lstStyle/>
                    <a:p>
                      <a:pPr marL="0" marR="0" lvl="0" indent="0" algn="ctr" rtl="0">
                        <a:spcBef>
                          <a:spcPts val="0"/>
                        </a:spcBef>
                        <a:spcAft>
                          <a:spcPts val="0"/>
                        </a:spcAft>
                        <a:buClr>
                          <a:srgbClr val="C00000"/>
                        </a:buClr>
                        <a:buSzPts val="1800"/>
                        <a:buFont typeface="Cambria"/>
                        <a:buNone/>
                      </a:pPr>
                      <a:r>
                        <a:rPr lang="en-US" sz="1800" b="1" u="none" strike="noStrike" cap="none">
                          <a:solidFill>
                            <a:srgbClr val="C00000"/>
                          </a:solidFill>
                          <a:latin typeface="Cambria"/>
                          <a:ea typeface="Cambria"/>
                          <a:cs typeface="Cambria"/>
                          <a:sym typeface="Cambria"/>
                        </a:rPr>
                        <a:t>Lesson Objectives</a:t>
                      </a:r>
                      <a:endParaRPr sz="1800" b="1" u="none" strike="noStrike" cap="none">
                        <a:solidFill>
                          <a:srgbClr val="C00000"/>
                        </a:solidFill>
                        <a:latin typeface="Cambria"/>
                        <a:ea typeface="Cambria"/>
                        <a:cs typeface="Cambria"/>
                        <a:sym typeface="Cambria"/>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61550">
                <a:tc>
                  <a:txBody>
                    <a:bodyPr/>
                    <a:lstStyle/>
                    <a:p>
                      <a:pPr marL="0" marR="0" lvl="0" indent="0" algn="l" rtl="0">
                        <a:spcBef>
                          <a:spcPts val="0"/>
                        </a:spcBef>
                        <a:spcAft>
                          <a:spcPts val="0"/>
                        </a:spcAft>
                        <a:buClr>
                          <a:srgbClr val="000000"/>
                        </a:buClr>
                        <a:buSzPts val="1800"/>
                        <a:buFont typeface="Cambria"/>
                        <a:buNone/>
                      </a:pPr>
                      <a:r>
                        <a:rPr lang="en-US" sz="1800">
                          <a:latin typeface="Cambria"/>
                          <a:ea typeface="Cambria"/>
                          <a:cs typeface="Cambria"/>
                          <a:sym typeface="Cambria"/>
                        </a:rPr>
                        <a:t>Introduction, Android Architecture</a:t>
                      </a:r>
                      <a:endParaRPr sz="1800">
                        <a:latin typeface="Cambria"/>
                        <a:ea typeface="Cambria"/>
                        <a:cs typeface="Cambria"/>
                        <a:sym typeface="Cambria"/>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61550">
                <a:tc>
                  <a:txBody>
                    <a:bodyPr/>
                    <a:lstStyle/>
                    <a:p>
                      <a:pPr marL="0" marR="0" lvl="0" indent="0" algn="l" rtl="0">
                        <a:spcBef>
                          <a:spcPts val="0"/>
                        </a:spcBef>
                        <a:spcAft>
                          <a:spcPts val="0"/>
                        </a:spcAft>
                        <a:buClr>
                          <a:srgbClr val="000000"/>
                        </a:buClr>
                        <a:buSzPts val="1800"/>
                        <a:buFont typeface="Cambria"/>
                        <a:buNone/>
                      </a:pPr>
                      <a:r>
                        <a:rPr lang="en-US" sz="1800">
                          <a:latin typeface="Cambria"/>
                          <a:ea typeface="Cambria"/>
                          <a:cs typeface="Cambria"/>
                          <a:sym typeface="Cambria"/>
                        </a:rPr>
                        <a:t>Android Development Tools</a:t>
                      </a:r>
                      <a:endParaRPr sz="1800" b="0">
                        <a:latin typeface="Cambria"/>
                        <a:ea typeface="Cambria"/>
                        <a:cs typeface="Cambria"/>
                        <a:sym typeface="Cambria"/>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03425">
                <a:tc>
                  <a:txBody>
                    <a:bodyPr/>
                    <a:lstStyle/>
                    <a:p>
                      <a:pPr marL="0" marR="0" lvl="0" indent="0" algn="l" rtl="0">
                        <a:spcBef>
                          <a:spcPts val="0"/>
                        </a:spcBef>
                        <a:spcAft>
                          <a:spcPts val="0"/>
                        </a:spcAft>
                        <a:buClr>
                          <a:srgbClr val="000000"/>
                        </a:buClr>
                        <a:buSzPts val="1800"/>
                        <a:buFont typeface="Cambria"/>
                        <a:buNone/>
                      </a:pPr>
                      <a:r>
                        <a:rPr lang="en-US" sz="1800">
                          <a:latin typeface="Cambria"/>
                          <a:ea typeface="Cambria"/>
                          <a:cs typeface="Cambria"/>
                          <a:sym typeface="Cambria"/>
                        </a:rPr>
                        <a:t>Directory Structure of Android Application</a:t>
                      </a:r>
                      <a:endParaRPr sz="1800" b="0">
                        <a:latin typeface="Cambria"/>
                        <a:ea typeface="Cambria"/>
                        <a:cs typeface="Cambria"/>
                        <a:sym typeface="Cambria"/>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03425">
                <a:tc>
                  <a:txBody>
                    <a:bodyPr/>
                    <a:lstStyle/>
                    <a:p>
                      <a:pPr marL="0" marR="0" lvl="0" indent="0" algn="l" rtl="0">
                        <a:spcBef>
                          <a:spcPts val="0"/>
                        </a:spcBef>
                        <a:spcAft>
                          <a:spcPts val="0"/>
                        </a:spcAft>
                        <a:buClr>
                          <a:srgbClr val="000000"/>
                        </a:buClr>
                        <a:buSzPts val="1800"/>
                        <a:buFont typeface="Cambria"/>
                        <a:buNone/>
                      </a:pPr>
                      <a:r>
                        <a:rPr lang="en-US" sz="1800">
                          <a:latin typeface="Cambria"/>
                          <a:ea typeface="Cambria"/>
                          <a:cs typeface="Cambria"/>
                          <a:sym typeface="Cambria"/>
                        </a:rPr>
                        <a:t>Android Manifest file</a:t>
                      </a:r>
                      <a:endParaRPr sz="1800" b="0">
                        <a:latin typeface="Cambria"/>
                        <a:ea typeface="Cambria"/>
                        <a:cs typeface="Cambria"/>
                        <a:sym typeface="Cambria"/>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
          <p:cNvSpPr txBox="1">
            <a:spLocks noGrp="1"/>
          </p:cNvSpPr>
          <p:nvPr>
            <p:ph type="title"/>
          </p:nvPr>
        </p:nvSpPr>
        <p:spPr>
          <a:xfrm>
            <a:off x="838200" y="81529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Outline</a:t>
            </a:r>
            <a:endParaRPr sz="2400" b="1" dirty="0">
              <a:latin typeface="Cambria"/>
              <a:ea typeface="Cambria"/>
              <a:cs typeface="Cambria"/>
              <a:sym typeface="Cambria"/>
            </a:endParaRPr>
          </a:p>
        </p:txBody>
      </p:sp>
      <p:sp>
        <p:nvSpPr>
          <p:cNvPr id="105" name="Google Shape;105;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000"/>
              <a:buChar char="•"/>
            </a:pPr>
            <a:r>
              <a:rPr lang="en-US" sz="2000">
                <a:latin typeface="Cambria"/>
                <a:ea typeface="Cambria"/>
                <a:cs typeface="Cambria"/>
                <a:sym typeface="Cambria"/>
              </a:rPr>
              <a:t>Context</a:t>
            </a:r>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Activity</a:t>
            </a:r>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Intent</a:t>
            </a:r>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Service</a:t>
            </a:r>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Broadcast Receiver</a:t>
            </a:r>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String</a:t>
            </a:r>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Color</a:t>
            </a:r>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Drawable</a:t>
            </a:r>
            <a:endParaRPr sz="2000">
              <a:latin typeface="Cambria"/>
              <a:ea typeface="Cambria"/>
              <a:cs typeface="Cambria"/>
              <a:sym typeface="Cambria"/>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Theme</a:t>
            </a:r>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Prepare Application for Localization</a:t>
            </a:r>
            <a:endParaRPr/>
          </a:p>
          <a:p>
            <a:pPr marL="228600" lvl="0" indent="-101600" algn="l" rtl="0">
              <a:lnSpc>
                <a:spcPct val="90000"/>
              </a:lnSpc>
              <a:spcBef>
                <a:spcPts val="1000"/>
              </a:spcBef>
              <a:spcAft>
                <a:spcPts val="0"/>
              </a:spcAft>
              <a:buClr>
                <a:schemeClr val="dk1"/>
              </a:buClr>
              <a:buSzPts val="2000"/>
              <a:buNone/>
            </a:pPr>
            <a:endParaRPr sz="2000">
              <a:latin typeface="Cambria"/>
              <a:ea typeface="Cambria"/>
              <a:cs typeface="Cambria"/>
              <a:sym typeface="Cambria"/>
            </a:endParaRPr>
          </a:p>
        </p:txBody>
      </p:sp>
      <p:pic>
        <p:nvPicPr>
          <p:cNvPr id="5" name="Picture 4"/>
          <p:cNvPicPr>
            <a:picLocks noChangeAspect="1"/>
          </p:cNvPicPr>
          <p:nvPr/>
        </p:nvPicPr>
        <p:blipFill>
          <a:blip r:embed="rId3"/>
          <a:stretch>
            <a:fillRect/>
          </a:stretch>
        </p:blipFill>
        <p:spPr>
          <a:xfrm>
            <a:off x="267286" y="72681"/>
            <a:ext cx="12051323" cy="7144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3"/>
          <p:cNvSpPr txBox="1">
            <a:spLocks noGrp="1"/>
          </p:cNvSpPr>
          <p:nvPr>
            <p:ph type="title"/>
          </p:nvPr>
        </p:nvSpPr>
        <p:spPr>
          <a:xfrm>
            <a:off x="838200" y="91376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Android Components</a:t>
            </a:r>
            <a:endParaRPr sz="2400" b="1" dirty="0">
              <a:latin typeface="Cambria"/>
              <a:ea typeface="Cambria"/>
              <a:cs typeface="Cambria"/>
              <a:sym typeface="Cambria"/>
            </a:endParaRPr>
          </a:p>
        </p:txBody>
      </p:sp>
      <p:sp>
        <p:nvSpPr>
          <p:cNvPr id="112" name="Google Shape;112;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76530" marR="5080" lvl="0" indent="-164465" algn="just" rtl="0">
              <a:lnSpc>
                <a:spcPct val="151400"/>
              </a:lnSpc>
              <a:spcBef>
                <a:spcPts val="0"/>
              </a:spcBef>
              <a:spcAft>
                <a:spcPts val="0"/>
              </a:spcAft>
              <a:buClr>
                <a:schemeClr val="dk1"/>
              </a:buClr>
              <a:buSzPts val="2000"/>
              <a:buFont typeface="Arial"/>
              <a:buChar char="•"/>
            </a:pPr>
            <a:r>
              <a:rPr lang="en-US" sz="2000">
                <a:latin typeface="Cambria"/>
                <a:ea typeface="Cambria"/>
                <a:cs typeface="Cambria"/>
                <a:sym typeface="Cambria"/>
              </a:rPr>
              <a:t>An android component is simply a piece of code that has a well defined life cycle e.g. Activity, Receiver, Service etc.</a:t>
            </a:r>
            <a:endParaRPr sz="2000">
              <a:latin typeface="Cambria"/>
              <a:ea typeface="Cambria"/>
              <a:cs typeface="Cambria"/>
              <a:sym typeface="Cambria"/>
            </a:endParaRPr>
          </a:p>
          <a:p>
            <a:pPr marL="176530" marR="13334" lvl="0" indent="-164465" algn="just" rtl="0">
              <a:lnSpc>
                <a:spcPct val="151400"/>
              </a:lnSpc>
              <a:spcBef>
                <a:spcPts val="1000"/>
              </a:spcBef>
              <a:spcAft>
                <a:spcPts val="0"/>
              </a:spcAft>
              <a:buClr>
                <a:schemeClr val="dk1"/>
              </a:buClr>
              <a:buSzPts val="2000"/>
              <a:buFont typeface="Arial"/>
              <a:buChar char="•"/>
            </a:pPr>
            <a:r>
              <a:rPr lang="en-US" sz="2000">
                <a:latin typeface="Cambria"/>
                <a:ea typeface="Cambria"/>
                <a:cs typeface="Cambria"/>
                <a:sym typeface="Cambria"/>
              </a:rPr>
              <a:t>The core building blocks or fundamental components of android are activities,  views,  intents,  services,  content providers, fragments and </a:t>
            </a:r>
            <a:r>
              <a:rPr lang="en-US" sz="2000" b="1">
                <a:latin typeface="Cambria"/>
                <a:ea typeface="Cambria"/>
                <a:cs typeface="Cambria"/>
                <a:sym typeface="Cambria"/>
              </a:rPr>
              <a:t>AndroidManifest. xml.</a:t>
            </a:r>
            <a:endParaRPr sz="2000" b="1">
              <a:latin typeface="Cambria"/>
              <a:ea typeface="Cambria"/>
              <a:cs typeface="Cambria"/>
              <a:sym typeface="Cambria"/>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4"/>
          <p:cNvSpPr txBox="1">
            <a:spLocks noGrp="1"/>
          </p:cNvSpPr>
          <p:nvPr>
            <p:ph type="title"/>
          </p:nvPr>
        </p:nvSpPr>
        <p:spPr>
          <a:xfrm>
            <a:off x="838200" y="105444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Android Components</a:t>
            </a:r>
            <a:endParaRPr dirty="0"/>
          </a:p>
        </p:txBody>
      </p:sp>
      <p:sp>
        <p:nvSpPr>
          <p:cNvPr id="119" name="Google Shape;119;p4"/>
          <p:cNvSpPr txBox="1">
            <a:spLocks noGrp="1"/>
          </p:cNvSpPr>
          <p:nvPr>
            <p:ph type="body" idx="1"/>
          </p:nvPr>
        </p:nvSpPr>
        <p:spPr>
          <a:xfrm>
            <a:off x="1451580" y="2015732"/>
            <a:ext cx="3309264" cy="3450613"/>
          </a:xfrm>
          <a:prstGeom prst="rect">
            <a:avLst/>
          </a:prstGeom>
          <a:noFill/>
          <a:ln>
            <a:noFill/>
          </a:ln>
        </p:spPr>
        <p:txBody>
          <a:bodyPr spcFirstLastPara="1" wrap="square" lIns="91425" tIns="45700" rIns="91425" bIns="45700" anchor="t" anchorCtr="0">
            <a:normAutofit/>
          </a:bodyPr>
          <a:lstStyle/>
          <a:p>
            <a:pPr marL="172720" lvl="0" indent="-168275" algn="l" rtl="0">
              <a:lnSpc>
                <a:spcPct val="100000"/>
              </a:lnSpc>
              <a:spcBef>
                <a:spcPts val="0"/>
              </a:spcBef>
              <a:spcAft>
                <a:spcPts val="0"/>
              </a:spcAft>
              <a:buClr>
                <a:schemeClr val="dk1"/>
              </a:buClr>
              <a:buSzPts val="1944"/>
              <a:buFont typeface="Arial"/>
              <a:buChar char="•"/>
            </a:pPr>
            <a:r>
              <a:rPr lang="en-US" sz="2000" dirty="0">
                <a:latin typeface="Cambria"/>
                <a:ea typeface="Cambria"/>
                <a:cs typeface="Cambria"/>
                <a:sym typeface="Cambria"/>
              </a:rPr>
              <a:t>Activities</a:t>
            </a:r>
            <a:endParaRPr sz="2000" dirty="0">
              <a:latin typeface="Cambria"/>
              <a:ea typeface="Cambria"/>
              <a:cs typeface="Cambria"/>
              <a:sym typeface="Cambria"/>
            </a:endParaRPr>
          </a:p>
          <a:p>
            <a:pPr marL="172720" lvl="0" indent="-168275" algn="l" rtl="0">
              <a:lnSpc>
                <a:spcPct val="100000"/>
              </a:lnSpc>
              <a:spcBef>
                <a:spcPts val="570"/>
              </a:spcBef>
              <a:spcAft>
                <a:spcPts val="0"/>
              </a:spcAft>
              <a:buClr>
                <a:schemeClr val="dk1"/>
              </a:buClr>
              <a:buSzPts val="1944"/>
              <a:buFont typeface="Arial"/>
              <a:buChar char="•"/>
            </a:pPr>
            <a:r>
              <a:rPr lang="en-US" sz="2000" dirty="0">
                <a:latin typeface="Cambria"/>
                <a:ea typeface="Cambria"/>
                <a:cs typeface="Cambria"/>
                <a:sym typeface="Cambria"/>
              </a:rPr>
              <a:t>Services</a:t>
            </a:r>
            <a:endParaRPr sz="2000" dirty="0">
              <a:latin typeface="Cambria"/>
              <a:ea typeface="Cambria"/>
              <a:cs typeface="Cambria"/>
              <a:sym typeface="Cambria"/>
            </a:endParaRPr>
          </a:p>
          <a:p>
            <a:pPr marL="172720" lvl="0" indent="-168275" algn="l" rtl="0">
              <a:lnSpc>
                <a:spcPct val="100000"/>
              </a:lnSpc>
              <a:spcBef>
                <a:spcPts val="570"/>
              </a:spcBef>
              <a:spcAft>
                <a:spcPts val="0"/>
              </a:spcAft>
              <a:buClr>
                <a:schemeClr val="dk1"/>
              </a:buClr>
              <a:buSzPts val="1944"/>
              <a:buFont typeface="Arial"/>
              <a:buChar char="•"/>
            </a:pPr>
            <a:r>
              <a:rPr lang="en-US" sz="2000" dirty="0">
                <a:latin typeface="Cambria"/>
                <a:ea typeface="Cambria"/>
                <a:cs typeface="Cambria"/>
                <a:sym typeface="Cambria"/>
              </a:rPr>
              <a:t>Content Providers</a:t>
            </a:r>
            <a:endParaRPr sz="2000" dirty="0">
              <a:latin typeface="Cambria"/>
              <a:ea typeface="Cambria"/>
              <a:cs typeface="Cambria"/>
              <a:sym typeface="Cambria"/>
            </a:endParaRPr>
          </a:p>
          <a:p>
            <a:pPr marL="172720" lvl="0" indent="-168275" algn="l" rtl="0">
              <a:lnSpc>
                <a:spcPct val="100000"/>
              </a:lnSpc>
              <a:spcBef>
                <a:spcPts val="565"/>
              </a:spcBef>
              <a:spcAft>
                <a:spcPts val="0"/>
              </a:spcAft>
              <a:buClr>
                <a:schemeClr val="dk1"/>
              </a:buClr>
              <a:buSzPts val="1944"/>
              <a:buFont typeface="Arial"/>
              <a:buChar char="•"/>
            </a:pPr>
            <a:r>
              <a:rPr lang="en-US" sz="2000" dirty="0">
                <a:latin typeface="Cambria"/>
                <a:ea typeface="Cambria"/>
                <a:cs typeface="Cambria"/>
                <a:sym typeface="Cambria"/>
              </a:rPr>
              <a:t>Broadcast Receivers</a:t>
            </a:r>
            <a:endParaRPr sz="2000" dirty="0">
              <a:latin typeface="Cambria"/>
              <a:ea typeface="Cambria"/>
              <a:cs typeface="Cambria"/>
              <a:sym typeface="Cambria"/>
            </a:endParaRPr>
          </a:p>
        </p:txBody>
      </p:sp>
      <p:pic>
        <p:nvPicPr>
          <p:cNvPr id="120" name="Google Shape;120;p4"/>
          <p:cNvPicPr preferRelativeResize="0"/>
          <p:nvPr/>
        </p:nvPicPr>
        <p:blipFill rotWithShape="1">
          <a:blip r:embed="rId3">
            <a:alphaModFix/>
          </a:blip>
          <a:srcRect/>
          <a:stretch/>
        </p:blipFill>
        <p:spPr>
          <a:xfrm>
            <a:off x="5009713" y="2078015"/>
            <a:ext cx="6776661" cy="3388330"/>
          </a:xfrm>
          <a:prstGeom prst="rect">
            <a:avLst/>
          </a:prstGeom>
          <a:noFill/>
          <a:ln>
            <a:noFill/>
          </a:ln>
        </p:spPr>
      </p:pic>
      <p:pic>
        <p:nvPicPr>
          <p:cNvPr id="6" name="Picture 5"/>
          <p:cNvPicPr>
            <a:picLocks noChangeAspect="1"/>
          </p:cNvPicPr>
          <p:nvPr/>
        </p:nvPicPr>
        <p:blipFill>
          <a:blip r:embed="rId4"/>
          <a:stretch>
            <a:fillRect/>
          </a:stretch>
        </p:blipFill>
        <p:spPr>
          <a:xfrm>
            <a:off x="140677" y="185418"/>
            <a:ext cx="12051323" cy="7144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5"/>
          <p:cNvSpPr txBox="1">
            <a:spLocks noGrp="1"/>
          </p:cNvSpPr>
          <p:nvPr>
            <p:ph type="title"/>
          </p:nvPr>
        </p:nvSpPr>
        <p:spPr>
          <a:xfrm>
            <a:off x="838200" y="8434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Context</a:t>
            </a:r>
            <a:endParaRPr dirty="0"/>
          </a:p>
        </p:txBody>
      </p:sp>
      <p:sp>
        <p:nvSpPr>
          <p:cNvPr id="127" name="Google Shape;127;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731520" marR="5080" lvl="1" indent="-342900" algn="just" rtl="0">
              <a:lnSpc>
                <a:spcPct val="100099"/>
              </a:lnSpc>
              <a:spcBef>
                <a:spcPts val="0"/>
              </a:spcBef>
              <a:spcAft>
                <a:spcPts val="0"/>
              </a:spcAft>
              <a:buClr>
                <a:schemeClr val="dk1"/>
              </a:buClr>
              <a:buSzPts val="2400"/>
              <a:buChar char="•"/>
            </a:pPr>
            <a:r>
              <a:rPr lang="en-US" dirty="0">
                <a:latin typeface="Cambria"/>
                <a:ea typeface="Cambria"/>
                <a:cs typeface="Cambria"/>
                <a:sym typeface="Cambria"/>
              </a:rPr>
              <a:t>The </a:t>
            </a:r>
            <a:r>
              <a:rPr lang="en-US" dirty="0" err="1">
                <a:latin typeface="Cambria"/>
                <a:ea typeface="Cambria"/>
                <a:cs typeface="Cambria"/>
                <a:sym typeface="Cambria"/>
              </a:rPr>
              <a:t>Contex</a:t>
            </a:r>
            <a:r>
              <a:rPr lang="en-US" dirty="0">
                <a:latin typeface="Cambria"/>
                <a:ea typeface="Cambria"/>
                <a:cs typeface="Cambria"/>
                <a:sym typeface="Cambria"/>
              </a:rPr>
              <a:t> class(</a:t>
            </a:r>
            <a:r>
              <a:rPr lang="en-US" dirty="0" err="1">
                <a:latin typeface="Cambria"/>
                <a:ea typeface="Cambria"/>
                <a:cs typeface="Cambria"/>
                <a:sym typeface="Cambria"/>
              </a:rPr>
              <a:t>android.content.context</a:t>
            </a:r>
            <a:r>
              <a:rPr lang="en-US" dirty="0">
                <a:latin typeface="Cambria"/>
                <a:ea typeface="Cambria"/>
                <a:cs typeface="Cambria"/>
                <a:sym typeface="Cambria"/>
              </a:rPr>
              <a:t>) is a fundamental building block of any android application and provides access to application-wide features such as the application’s private files and 	device resources, as well as system-wide services.</a:t>
            </a:r>
            <a:endParaRPr dirty="0">
              <a:latin typeface="Cambria"/>
              <a:ea typeface="Cambria"/>
              <a:cs typeface="Cambria"/>
              <a:sym typeface="Cambria"/>
            </a:endParaRPr>
          </a:p>
          <a:p>
            <a:pPr marL="731520" marR="1588770" lvl="1" indent="-342900" algn="just" rtl="0">
              <a:lnSpc>
                <a:spcPct val="139166"/>
              </a:lnSpc>
              <a:spcBef>
                <a:spcPts val="695"/>
              </a:spcBef>
              <a:spcAft>
                <a:spcPts val="0"/>
              </a:spcAft>
              <a:buClr>
                <a:schemeClr val="dk1"/>
              </a:buClr>
              <a:buSzPts val="2400"/>
              <a:buChar char="•"/>
            </a:pPr>
            <a:r>
              <a:rPr lang="en-US" dirty="0">
                <a:latin typeface="Cambria"/>
                <a:ea typeface="Cambria"/>
                <a:cs typeface="Cambria"/>
                <a:sym typeface="Cambria"/>
              </a:rPr>
              <a:t>The application wide Context object is instantiated as an 	Application object(</a:t>
            </a:r>
            <a:r>
              <a:rPr lang="en-US" dirty="0" err="1">
                <a:latin typeface="Cambria"/>
                <a:ea typeface="Cambria"/>
                <a:cs typeface="Cambria"/>
                <a:sym typeface="Cambria"/>
              </a:rPr>
              <a:t>android.app.Application</a:t>
            </a:r>
            <a:r>
              <a:rPr lang="en-US" dirty="0">
                <a:latin typeface="Cambria"/>
                <a:ea typeface="Cambria"/>
                <a:cs typeface="Cambria"/>
                <a:sym typeface="Cambria"/>
              </a:rPr>
              <a:t>).</a:t>
            </a:r>
            <a:endParaRPr dirty="0">
              <a:latin typeface="Cambria"/>
              <a:ea typeface="Cambria"/>
              <a:cs typeface="Cambria"/>
              <a:sym typeface="Cambria"/>
            </a:endParaRPr>
          </a:p>
          <a:p>
            <a:pPr marL="228600" lvl="0" indent="-50800" algn="l" rtl="0">
              <a:lnSpc>
                <a:spcPct val="90000"/>
              </a:lnSpc>
              <a:spcBef>
                <a:spcPts val="1000"/>
              </a:spcBef>
              <a:spcAft>
                <a:spcPts val="0"/>
              </a:spcAft>
              <a:buClr>
                <a:schemeClr val="dk1"/>
              </a:buClr>
              <a:buSzPts val="2800"/>
              <a:buNone/>
            </a:pPr>
            <a:endParaRPr dirty="0"/>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6"/>
          <p:cNvSpPr txBox="1">
            <a:spLocks noGrp="1"/>
          </p:cNvSpPr>
          <p:nvPr>
            <p:ph type="title"/>
          </p:nvPr>
        </p:nvSpPr>
        <p:spPr>
          <a:xfrm>
            <a:off x="838200" y="80229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Activity</a:t>
            </a:r>
            <a:endParaRPr sz="2400" b="1" dirty="0">
              <a:latin typeface="Cambria"/>
              <a:ea typeface="Cambria"/>
              <a:cs typeface="Cambria"/>
              <a:sym typeface="Cambria"/>
            </a:endParaRPr>
          </a:p>
        </p:txBody>
      </p:sp>
      <p:sp>
        <p:nvSpPr>
          <p:cNvPr id="134" name="Google Shape;134;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99720" lvl="0" indent="-287020" algn="just" rtl="0">
              <a:lnSpc>
                <a:spcPct val="100000"/>
              </a:lnSpc>
              <a:spcBef>
                <a:spcPts val="0"/>
              </a:spcBef>
              <a:spcAft>
                <a:spcPts val="0"/>
              </a:spcAft>
              <a:buClr>
                <a:schemeClr val="dk1"/>
              </a:buClr>
              <a:buSzPts val="2000"/>
              <a:buFont typeface="Arial"/>
              <a:buChar char="•"/>
            </a:pPr>
            <a:r>
              <a:rPr lang="en-US" sz="2000">
                <a:latin typeface="Cambria"/>
                <a:ea typeface="Cambria"/>
                <a:cs typeface="Cambria"/>
                <a:sym typeface="Cambria"/>
              </a:rPr>
              <a:t>Activity class is the core of any Android Application.</a:t>
            </a:r>
            <a:endParaRPr sz="2000">
              <a:latin typeface="Cambria"/>
              <a:ea typeface="Cambria"/>
              <a:cs typeface="Cambria"/>
              <a:sym typeface="Cambria"/>
            </a:endParaRPr>
          </a:p>
          <a:p>
            <a:pPr marL="299085" marR="200660" lvl="0" indent="-287019" algn="just" rtl="0">
              <a:lnSpc>
                <a:spcPct val="161450"/>
              </a:lnSpc>
              <a:spcBef>
                <a:spcPts val="640"/>
              </a:spcBef>
              <a:spcAft>
                <a:spcPts val="0"/>
              </a:spcAft>
              <a:buClr>
                <a:schemeClr val="dk1"/>
              </a:buClr>
              <a:buSzPts val="2000"/>
              <a:buFont typeface="Arial"/>
              <a:buChar char="•"/>
            </a:pPr>
            <a:r>
              <a:rPr lang="en-US" sz="2000">
                <a:latin typeface="Cambria"/>
                <a:ea typeface="Cambria"/>
                <a:cs typeface="Cambria"/>
                <a:sym typeface="Cambria"/>
              </a:rPr>
              <a:t>You define and implement Activity class for each screen in your application.</a:t>
            </a:r>
            <a:endParaRPr sz="2000">
              <a:latin typeface="Cambria"/>
              <a:ea typeface="Cambria"/>
              <a:cs typeface="Cambria"/>
              <a:sym typeface="Cambria"/>
            </a:endParaRPr>
          </a:p>
          <a:p>
            <a:pPr marL="299085" marR="5080" lvl="0" indent="-287019" algn="just" rtl="0">
              <a:lnSpc>
                <a:spcPct val="161450"/>
              </a:lnSpc>
              <a:spcBef>
                <a:spcPts val="590"/>
              </a:spcBef>
              <a:spcAft>
                <a:spcPts val="0"/>
              </a:spcAft>
              <a:buClr>
                <a:schemeClr val="dk1"/>
              </a:buClr>
              <a:buSzPts val="2000"/>
              <a:buFont typeface="Arial"/>
              <a:buChar char="•"/>
            </a:pPr>
            <a:r>
              <a:rPr lang="en-US" sz="2000">
                <a:latin typeface="Cambria"/>
                <a:ea typeface="Cambria"/>
                <a:cs typeface="Cambria"/>
                <a:sym typeface="Cambria"/>
              </a:rPr>
              <a:t>For example a simple game application might have the following five activities:</a:t>
            </a:r>
            <a:endParaRPr sz="2000">
              <a:latin typeface="Cambria"/>
              <a:ea typeface="Cambria"/>
              <a:cs typeface="Cambria"/>
              <a:sym typeface="Cambria"/>
            </a:endParaRPr>
          </a:p>
          <a:p>
            <a:pPr marL="852170" lvl="1" indent="-457200" algn="just" rtl="0">
              <a:lnSpc>
                <a:spcPct val="100000"/>
              </a:lnSpc>
              <a:spcBef>
                <a:spcPts val="180"/>
              </a:spcBef>
              <a:spcAft>
                <a:spcPts val="0"/>
              </a:spcAft>
              <a:buClr>
                <a:schemeClr val="dk1"/>
              </a:buClr>
              <a:buSzPts val="2000"/>
              <a:buFont typeface="Noto Sans Symbols"/>
              <a:buChar char="⮚"/>
            </a:pPr>
            <a:r>
              <a:rPr lang="en-US" sz="2000">
                <a:latin typeface="Cambria"/>
                <a:ea typeface="Cambria"/>
                <a:cs typeface="Cambria"/>
                <a:sym typeface="Cambria"/>
              </a:rPr>
              <a:t>A starting screen: displays the application name and version</a:t>
            </a:r>
            <a:endParaRPr sz="2000">
              <a:latin typeface="Cambria"/>
              <a:ea typeface="Cambria"/>
              <a:cs typeface="Cambria"/>
              <a:sym typeface="Cambria"/>
            </a:endParaRPr>
          </a:p>
          <a:p>
            <a:pPr marL="851535" marR="459105" lvl="1" indent="-457200" algn="just" rtl="0">
              <a:lnSpc>
                <a:spcPct val="139000"/>
              </a:lnSpc>
              <a:spcBef>
                <a:spcPts val="560"/>
              </a:spcBef>
              <a:spcAft>
                <a:spcPts val="0"/>
              </a:spcAft>
              <a:buClr>
                <a:schemeClr val="dk1"/>
              </a:buClr>
              <a:buSzPts val="2000"/>
              <a:buFont typeface="Noto Sans Symbols"/>
              <a:buChar char="⮚"/>
            </a:pPr>
            <a:r>
              <a:rPr lang="en-US" sz="2000">
                <a:latin typeface="Cambria"/>
                <a:ea typeface="Cambria"/>
                <a:cs typeface="Cambria"/>
                <a:sym typeface="Cambria"/>
              </a:rPr>
              <a:t>A main menu screen: users choose what they want to do within the application.</a:t>
            </a:r>
            <a:endParaRPr sz="2000">
              <a:latin typeface="Cambria"/>
              <a:ea typeface="Cambria"/>
              <a:cs typeface="Cambria"/>
              <a:sym typeface="Cambria"/>
            </a:endParaRPr>
          </a:p>
          <a:p>
            <a:pPr marL="852170" lvl="1" indent="-457200" algn="just" rtl="0">
              <a:lnSpc>
                <a:spcPct val="100000"/>
              </a:lnSpc>
              <a:spcBef>
                <a:spcPts val="135"/>
              </a:spcBef>
              <a:spcAft>
                <a:spcPts val="0"/>
              </a:spcAft>
              <a:buClr>
                <a:schemeClr val="dk1"/>
              </a:buClr>
              <a:buSzPts val="2000"/>
              <a:buFont typeface="Noto Sans Symbols"/>
              <a:buChar char="⮚"/>
            </a:pPr>
            <a:r>
              <a:rPr lang="en-US" sz="2000">
                <a:latin typeface="Cambria"/>
                <a:ea typeface="Cambria"/>
                <a:cs typeface="Cambria"/>
                <a:sym typeface="Cambria"/>
              </a:rPr>
              <a:t>A game play screen</a:t>
            </a:r>
            <a:endParaRPr sz="2000">
              <a:latin typeface="Cambria"/>
              <a:ea typeface="Cambria"/>
              <a:cs typeface="Cambria"/>
              <a:sym typeface="Cambria"/>
            </a:endParaRPr>
          </a:p>
          <a:p>
            <a:pPr marL="852170" lvl="1" indent="-457200" algn="just" rtl="0">
              <a:lnSpc>
                <a:spcPct val="100000"/>
              </a:lnSpc>
              <a:spcBef>
                <a:spcPts val="180"/>
              </a:spcBef>
              <a:spcAft>
                <a:spcPts val="0"/>
              </a:spcAft>
              <a:buClr>
                <a:schemeClr val="dk1"/>
              </a:buClr>
              <a:buSzPts val="2000"/>
              <a:buFont typeface="Noto Sans Symbols"/>
              <a:buChar char="⮚"/>
            </a:pPr>
            <a:r>
              <a:rPr lang="en-US" sz="2000">
                <a:latin typeface="Cambria"/>
                <a:ea typeface="Cambria"/>
                <a:cs typeface="Cambria"/>
                <a:sym typeface="Cambria"/>
              </a:rPr>
              <a:t>A high score screen</a:t>
            </a:r>
            <a:endParaRPr sz="2000">
              <a:latin typeface="Cambria"/>
              <a:ea typeface="Cambria"/>
              <a:cs typeface="Cambria"/>
              <a:sym typeface="Cambria"/>
            </a:endParaRPr>
          </a:p>
          <a:p>
            <a:pPr marL="852170" lvl="1" indent="-457200" algn="just" rtl="0">
              <a:lnSpc>
                <a:spcPct val="100000"/>
              </a:lnSpc>
              <a:spcBef>
                <a:spcPts val="180"/>
              </a:spcBef>
              <a:spcAft>
                <a:spcPts val="0"/>
              </a:spcAft>
              <a:buClr>
                <a:schemeClr val="dk1"/>
              </a:buClr>
              <a:buSzPts val="2000"/>
              <a:buFont typeface="Noto Sans Symbols"/>
              <a:buChar char="⮚"/>
            </a:pPr>
            <a:r>
              <a:rPr lang="en-US" sz="2000">
                <a:latin typeface="Cambria"/>
                <a:ea typeface="Cambria"/>
                <a:cs typeface="Cambria"/>
                <a:sym typeface="Cambria"/>
              </a:rPr>
              <a:t>A help/about screen</a:t>
            </a:r>
            <a:endParaRPr sz="2000">
              <a:latin typeface="Cambria"/>
              <a:ea typeface="Cambria"/>
              <a:cs typeface="Cambria"/>
              <a:sym typeface="Cambria"/>
            </a:endParaRPr>
          </a:p>
          <a:p>
            <a:pPr marL="228600" lvl="0" indent="-50800" algn="l" rtl="0">
              <a:lnSpc>
                <a:spcPct val="90000"/>
              </a:lnSpc>
              <a:spcBef>
                <a:spcPts val="1000"/>
              </a:spcBef>
              <a:spcAft>
                <a:spcPts val="0"/>
              </a:spcAft>
              <a:buClr>
                <a:schemeClr val="dk1"/>
              </a:buClr>
              <a:buSzPts val="2800"/>
              <a:buNone/>
            </a:pPr>
            <a:endParaRPr>
              <a:latin typeface="Gill Sans"/>
              <a:ea typeface="Gill Sans"/>
              <a:cs typeface="Gill Sans"/>
              <a:sym typeface="Gill Sans"/>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7"/>
          <p:cNvSpPr txBox="1">
            <a:spLocks noGrp="1"/>
          </p:cNvSpPr>
          <p:nvPr>
            <p:ph type="title"/>
          </p:nvPr>
        </p:nvSpPr>
        <p:spPr>
          <a:xfrm>
            <a:off x="767862" y="109719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Activity</a:t>
            </a:r>
            <a:endParaRPr sz="2400" b="1" dirty="0">
              <a:latin typeface="Cambria"/>
              <a:ea typeface="Cambria"/>
              <a:cs typeface="Cambria"/>
              <a:sym typeface="Cambria"/>
            </a:endParaRPr>
          </a:p>
        </p:txBody>
      </p:sp>
      <p:sp>
        <p:nvSpPr>
          <p:cNvPr id="141" name="Google Shape;141;p7"/>
          <p:cNvSpPr txBo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marR="0" lvl="0" indent="-101600" algn="l" rtl="0">
              <a:lnSpc>
                <a:spcPct val="120000"/>
              </a:lnSpc>
              <a:spcBef>
                <a:spcPts val="0"/>
              </a:spcBef>
              <a:spcAft>
                <a:spcPts val="0"/>
              </a:spcAft>
              <a:buClr>
                <a:schemeClr val="accent1"/>
              </a:buClr>
              <a:buSzPts val="2000"/>
              <a:buFont typeface="Arial"/>
              <a:buNone/>
            </a:pPr>
            <a:endParaRPr sz="2000" b="0" i="0" u="none" strike="noStrike" cap="none">
              <a:solidFill>
                <a:schemeClr val="dk1"/>
              </a:solidFill>
              <a:latin typeface="Calibri"/>
              <a:ea typeface="Calibri"/>
              <a:cs typeface="Calibri"/>
              <a:sym typeface="Calibri"/>
            </a:endParaRPr>
          </a:p>
        </p:txBody>
      </p:sp>
      <p:pic>
        <p:nvPicPr>
          <p:cNvPr id="142" name="Google Shape;142;p7"/>
          <p:cNvPicPr preferRelativeResize="0"/>
          <p:nvPr/>
        </p:nvPicPr>
        <p:blipFill rotWithShape="1">
          <a:blip r:embed="rId3">
            <a:alphaModFix/>
          </a:blip>
          <a:srcRect r="36665"/>
          <a:stretch/>
        </p:blipFill>
        <p:spPr>
          <a:xfrm>
            <a:off x="2833119" y="2126974"/>
            <a:ext cx="6082282" cy="3595124"/>
          </a:xfrm>
          <a:prstGeom prst="rect">
            <a:avLst/>
          </a:prstGeom>
          <a:solidFill>
            <a:srgbClr val="ECECEC"/>
          </a:solidFill>
          <a:ln w="190500" cap="rnd" cmpd="sng">
            <a:solidFill>
              <a:srgbClr val="FFFFFF"/>
            </a:solidFill>
            <a:prstDash val="solid"/>
            <a:round/>
            <a:headEnd type="none" w="sm" len="sm"/>
            <a:tailEnd type="none" w="sm" len="sm"/>
          </a:ln>
          <a:effectLst>
            <a:outerShdw blurRad="50000" algn="tl" rotWithShape="0">
              <a:srgbClr val="000000">
                <a:alpha val="40784"/>
              </a:srgbClr>
            </a:outerShdw>
          </a:effectLst>
        </p:spPr>
      </p:pic>
      <p:pic>
        <p:nvPicPr>
          <p:cNvPr id="6" name="Picture 5"/>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8"/>
          <p:cNvSpPr txBox="1">
            <a:spLocks noGrp="1"/>
          </p:cNvSpPr>
          <p:nvPr>
            <p:ph type="title"/>
          </p:nvPr>
        </p:nvSpPr>
        <p:spPr>
          <a:xfrm>
            <a:off x="1451579" y="804520"/>
            <a:ext cx="9603275" cy="73689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Activity</a:t>
            </a:r>
            <a:endParaRPr sz="2400" b="1">
              <a:latin typeface="Cambria"/>
              <a:ea typeface="Cambria"/>
              <a:cs typeface="Cambria"/>
              <a:sym typeface="Cambria"/>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pic>
        <p:nvPicPr>
          <p:cNvPr id="3" name="Picture 2">
            <a:extLst>
              <a:ext uri="{FF2B5EF4-FFF2-40B4-BE49-F238E27FC236}">
                <a16:creationId xmlns:a16="http://schemas.microsoft.com/office/drawing/2014/main" id="{9374DF7C-1D06-40CD-A169-3CA0F92FF501}"/>
              </a:ext>
            </a:extLst>
          </p:cNvPr>
          <p:cNvPicPr>
            <a:picLocks noChangeAspect="1"/>
          </p:cNvPicPr>
          <p:nvPr/>
        </p:nvPicPr>
        <p:blipFill>
          <a:blip r:embed="rId4"/>
          <a:stretch>
            <a:fillRect/>
          </a:stretch>
        </p:blipFill>
        <p:spPr>
          <a:xfrm>
            <a:off x="2035834" y="1569554"/>
            <a:ext cx="7632439" cy="43477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Activity</a:t>
            </a:r>
            <a:endParaRPr sz="2400" b="1">
              <a:latin typeface="Cambria"/>
              <a:ea typeface="Cambria"/>
              <a:cs typeface="Cambria"/>
              <a:sym typeface="Cambria"/>
            </a:endParaRPr>
          </a:p>
        </p:txBody>
      </p:sp>
      <p:sp>
        <p:nvSpPr>
          <p:cNvPr id="157" name="Google Shape;157;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2065" marR="5080" lvl="0" indent="0" algn="l" rtl="0">
              <a:lnSpc>
                <a:spcPct val="100000"/>
              </a:lnSpc>
              <a:spcBef>
                <a:spcPts val="0"/>
              </a:spcBef>
              <a:spcAft>
                <a:spcPts val="0"/>
              </a:spcAft>
              <a:buClr>
                <a:srgbClr val="444444"/>
              </a:buClr>
              <a:buSzPts val="2000"/>
              <a:buNone/>
            </a:pPr>
            <a:r>
              <a:rPr lang="en-US" sz="2000" b="1" u="sng" dirty="0">
                <a:solidFill>
                  <a:srgbClr val="444444"/>
                </a:solidFill>
                <a:latin typeface="Cambria"/>
                <a:ea typeface="Cambria"/>
                <a:cs typeface="Cambria"/>
                <a:sym typeface="Cambria"/>
              </a:rPr>
              <a:t>Running State</a:t>
            </a:r>
            <a:endParaRPr dirty="0"/>
          </a:p>
          <a:p>
            <a:pPr marL="186690" marR="5080" lvl="0" indent="-174625" algn="just" rtl="0">
              <a:lnSpc>
                <a:spcPct val="100000"/>
              </a:lnSpc>
              <a:spcBef>
                <a:spcPts val="100"/>
              </a:spcBef>
              <a:spcAft>
                <a:spcPts val="0"/>
              </a:spcAft>
              <a:buClr>
                <a:srgbClr val="444444"/>
              </a:buClr>
              <a:buSzPts val="2000"/>
              <a:buFont typeface="Arial"/>
              <a:buChar char="•"/>
            </a:pPr>
            <a:r>
              <a:rPr lang="en-US" sz="2000" dirty="0">
                <a:solidFill>
                  <a:srgbClr val="444444"/>
                </a:solidFill>
                <a:latin typeface="Cambria"/>
                <a:ea typeface="Cambria"/>
                <a:cs typeface="Cambria"/>
                <a:sym typeface="Cambria"/>
              </a:rPr>
              <a:t>An activity is in the running state if it’s shown in the foreground of the 	users’ screen</a:t>
            </a:r>
            <a:endParaRPr sz="2000" dirty="0">
              <a:latin typeface="Cambria"/>
              <a:ea typeface="Cambria"/>
              <a:cs typeface="Cambria"/>
              <a:sym typeface="Cambria"/>
            </a:endParaRPr>
          </a:p>
          <a:p>
            <a:pPr marL="187325" lvl="0" indent="-174625" algn="just" rtl="0">
              <a:lnSpc>
                <a:spcPct val="100000"/>
              </a:lnSpc>
              <a:spcBef>
                <a:spcPts val="1000"/>
              </a:spcBef>
              <a:spcAft>
                <a:spcPts val="0"/>
              </a:spcAft>
              <a:buClr>
                <a:srgbClr val="212529"/>
              </a:buClr>
              <a:buSzPts val="2000"/>
              <a:buFont typeface="Arial"/>
              <a:buChar char="•"/>
            </a:pPr>
            <a:r>
              <a:rPr lang="en-US" sz="2000" dirty="0">
                <a:solidFill>
                  <a:srgbClr val="212529"/>
                </a:solidFill>
                <a:latin typeface="Cambria"/>
                <a:ea typeface="Cambria"/>
                <a:cs typeface="Cambria"/>
                <a:sym typeface="Cambria"/>
              </a:rPr>
              <a:t>When an Activity is in active state, it means it is active and running.</a:t>
            </a:r>
            <a:endParaRPr sz="2000" dirty="0">
              <a:latin typeface="Cambria"/>
              <a:ea typeface="Cambria"/>
              <a:cs typeface="Cambria"/>
              <a:sym typeface="Cambria"/>
            </a:endParaRPr>
          </a:p>
          <a:p>
            <a:pPr marL="187325" lvl="0" indent="-174625" algn="just" rtl="0">
              <a:lnSpc>
                <a:spcPct val="100000"/>
              </a:lnSpc>
              <a:spcBef>
                <a:spcPts val="1000"/>
              </a:spcBef>
              <a:spcAft>
                <a:spcPts val="0"/>
              </a:spcAft>
              <a:buClr>
                <a:srgbClr val="212529"/>
              </a:buClr>
              <a:buSzPts val="2000"/>
              <a:buFont typeface="Arial"/>
              <a:buChar char="•"/>
            </a:pPr>
            <a:r>
              <a:rPr lang="en-US" sz="2000" dirty="0">
                <a:solidFill>
                  <a:srgbClr val="212529"/>
                </a:solidFill>
                <a:latin typeface="Cambria"/>
                <a:ea typeface="Cambria"/>
                <a:cs typeface="Cambria"/>
                <a:sym typeface="Cambria"/>
              </a:rPr>
              <a:t>It is visible to the user and the user is able to interact with it.</a:t>
            </a:r>
            <a:endParaRPr sz="2000" dirty="0">
              <a:latin typeface="Cambria"/>
              <a:ea typeface="Cambria"/>
              <a:cs typeface="Cambria"/>
              <a:sym typeface="Cambria"/>
            </a:endParaRPr>
          </a:p>
          <a:p>
            <a:pPr marL="186690" marR="5715" lvl="0" indent="-174625" algn="just" rtl="0">
              <a:lnSpc>
                <a:spcPct val="100000"/>
              </a:lnSpc>
              <a:spcBef>
                <a:spcPts val="1000"/>
              </a:spcBef>
              <a:spcAft>
                <a:spcPts val="0"/>
              </a:spcAft>
              <a:buClr>
                <a:srgbClr val="212529"/>
              </a:buClr>
              <a:buSzPts val="2000"/>
              <a:buFont typeface="Arial"/>
              <a:buChar char="•"/>
            </a:pPr>
            <a:r>
              <a:rPr lang="en-US" sz="2000" dirty="0">
                <a:solidFill>
                  <a:srgbClr val="212529"/>
                </a:solidFill>
                <a:latin typeface="Cambria"/>
                <a:ea typeface="Cambria"/>
                <a:cs typeface="Cambria"/>
                <a:sym typeface="Cambria"/>
              </a:rPr>
              <a:t>Android Runtime treats the Activity in this state	with the	highest 	priority and never tries to kill it.</a:t>
            </a:r>
            <a:endParaRPr sz="2000" dirty="0">
              <a:latin typeface="Cambria"/>
              <a:ea typeface="Cambria"/>
              <a:cs typeface="Cambria"/>
              <a:sym typeface="Cambria"/>
            </a:endParaRPr>
          </a:p>
          <a:p>
            <a:pPr marL="228600" lvl="0" indent="-50800" algn="l" rtl="0">
              <a:lnSpc>
                <a:spcPct val="90000"/>
              </a:lnSpc>
              <a:spcBef>
                <a:spcPts val="1000"/>
              </a:spcBef>
              <a:spcAft>
                <a:spcPts val="0"/>
              </a:spcAft>
              <a:buClr>
                <a:schemeClr val="dk1"/>
              </a:buClr>
              <a:buSzPts val="2800"/>
              <a:buNone/>
            </a:pPr>
            <a:endParaRPr dirty="0">
              <a:latin typeface="Gill Sans"/>
              <a:ea typeface="Gill Sans"/>
              <a:cs typeface="Gill Sans"/>
              <a:sym typeface="Gill Sans"/>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Activity</a:t>
            </a:r>
            <a:endParaRPr sz="2400" b="1">
              <a:latin typeface="Cambria"/>
              <a:ea typeface="Cambria"/>
              <a:cs typeface="Cambria"/>
              <a:sym typeface="Cambria"/>
            </a:endParaRPr>
          </a:p>
        </p:txBody>
      </p:sp>
      <p:sp>
        <p:nvSpPr>
          <p:cNvPr id="164" name="Google Shape;164;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2065" marR="5080" lvl="0" indent="0" algn="just" rtl="0">
              <a:lnSpc>
                <a:spcPct val="100000"/>
              </a:lnSpc>
              <a:spcBef>
                <a:spcPts val="0"/>
              </a:spcBef>
              <a:spcAft>
                <a:spcPts val="0"/>
              </a:spcAft>
              <a:buClr>
                <a:srgbClr val="444444"/>
              </a:buClr>
              <a:buSzPts val="2000"/>
              <a:buNone/>
            </a:pPr>
            <a:r>
              <a:rPr lang="en-US" sz="2000" b="1" u="sng" dirty="0">
                <a:solidFill>
                  <a:srgbClr val="444444"/>
                </a:solidFill>
                <a:latin typeface="Cambria"/>
                <a:ea typeface="Cambria"/>
                <a:cs typeface="Cambria"/>
                <a:sym typeface="Cambria"/>
              </a:rPr>
              <a:t>Paused State</a:t>
            </a:r>
            <a:endParaRPr dirty="0"/>
          </a:p>
          <a:p>
            <a:pPr marL="12065" marR="5080" lvl="0" indent="0" algn="just" rtl="0">
              <a:lnSpc>
                <a:spcPct val="100000"/>
              </a:lnSpc>
              <a:spcBef>
                <a:spcPts val="100"/>
              </a:spcBef>
              <a:spcAft>
                <a:spcPts val="0"/>
              </a:spcAft>
              <a:buClr>
                <a:schemeClr val="dk1"/>
              </a:buClr>
              <a:buSzPts val="2000"/>
              <a:buNone/>
            </a:pPr>
            <a:endParaRPr sz="2000" dirty="0">
              <a:solidFill>
                <a:srgbClr val="212529"/>
              </a:solidFill>
              <a:latin typeface="Cambria"/>
              <a:ea typeface="Cambria"/>
              <a:cs typeface="Cambria"/>
              <a:sym typeface="Cambria"/>
            </a:endParaRPr>
          </a:p>
          <a:p>
            <a:pPr marL="186690" marR="5080" lvl="0" indent="-174625" algn="just" rtl="0">
              <a:lnSpc>
                <a:spcPct val="100000"/>
              </a:lnSpc>
              <a:spcBef>
                <a:spcPts val="100"/>
              </a:spcBef>
              <a:spcAft>
                <a:spcPts val="0"/>
              </a:spcAft>
              <a:buClr>
                <a:srgbClr val="212529"/>
              </a:buClr>
              <a:buSzPts val="2000"/>
              <a:buFont typeface="Arial"/>
              <a:buChar char="•"/>
            </a:pPr>
            <a:r>
              <a:rPr lang="en-US" sz="2000" dirty="0">
                <a:solidFill>
                  <a:srgbClr val="212529"/>
                </a:solidFill>
                <a:latin typeface="Cambria"/>
                <a:ea typeface="Cambria"/>
                <a:cs typeface="Cambria"/>
                <a:sym typeface="Cambria"/>
              </a:rPr>
              <a:t>An activity being in this state means that the user can still see the 	Activity in the background such as behind a transparent window or a dialog box but it is partially visible.</a:t>
            </a:r>
            <a:endParaRPr sz="2000" dirty="0">
              <a:latin typeface="Cambria"/>
              <a:ea typeface="Cambria"/>
              <a:cs typeface="Cambria"/>
              <a:sym typeface="Cambria"/>
            </a:endParaRPr>
          </a:p>
          <a:p>
            <a:pPr marL="186690" marR="12065" lvl="0" indent="-174625" algn="just" rtl="0">
              <a:lnSpc>
                <a:spcPct val="100000"/>
              </a:lnSpc>
              <a:spcBef>
                <a:spcPts val="1000"/>
              </a:spcBef>
              <a:spcAft>
                <a:spcPts val="0"/>
              </a:spcAft>
              <a:buClr>
                <a:srgbClr val="212529"/>
              </a:buClr>
              <a:buSzPts val="2000"/>
              <a:buFont typeface="Arial"/>
              <a:buChar char="•"/>
            </a:pPr>
            <a:r>
              <a:rPr lang="en-US" sz="2000" dirty="0">
                <a:solidFill>
                  <a:srgbClr val="212529"/>
                </a:solidFill>
                <a:latin typeface="Cambria"/>
                <a:ea typeface="Cambria"/>
                <a:cs typeface="Cambria"/>
                <a:sym typeface="Cambria"/>
              </a:rPr>
              <a:t>The user cannot interact with the Activity until he/she is done with the current view.</a:t>
            </a:r>
            <a:endParaRPr sz="2000" dirty="0">
              <a:latin typeface="Cambria"/>
              <a:ea typeface="Cambria"/>
              <a:cs typeface="Cambria"/>
              <a:sym typeface="Cambria"/>
            </a:endParaRPr>
          </a:p>
          <a:p>
            <a:pPr marL="186690" marR="13334" lvl="0" indent="-174625" algn="just" rtl="0">
              <a:lnSpc>
                <a:spcPct val="100000"/>
              </a:lnSpc>
              <a:spcBef>
                <a:spcPts val="1000"/>
              </a:spcBef>
              <a:spcAft>
                <a:spcPts val="0"/>
              </a:spcAft>
              <a:buClr>
                <a:srgbClr val="212529"/>
              </a:buClr>
              <a:buSzPts val="2000"/>
              <a:buFont typeface="Arial"/>
              <a:buChar char="•"/>
            </a:pPr>
            <a:r>
              <a:rPr lang="en-US" sz="2000" dirty="0">
                <a:solidFill>
                  <a:srgbClr val="212529"/>
                </a:solidFill>
                <a:latin typeface="Cambria"/>
                <a:ea typeface="Cambria"/>
                <a:cs typeface="Cambria"/>
                <a:sym typeface="Cambria"/>
              </a:rPr>
              <a:t>Android Runtime usually does not kill an Activity in this state but may do so in an extreme case of resource crunch.</a:t>
            </a:r>
            <a:endParaRPr sz="2000" dirty="0">
              <a:latin typeface="Cambria"/>
              <a:ea typeface="Cambria"/>
              <a:cs typeface="Cambria"/>
              <a:sym typeface="Cambria"/>
            </a:endParaRPr>
          </a:p>
          <a:p>
            <a:pPr marL="0" lvl="0" indent="0" algn="just" rtl="0">
              <a:lnSpc>
                <a:spcPct val="90000"/>
              </a:lnSpc>
              <a:spcBef>
                <a:spcPts val="1000"/>
              </a:spcBef>
              <a:spcAft>
                <a:spcPts val="0"/>
              </a:spcAft>
              <a:buClr>
                <a:srgbClr val="444444"/>
              </a:buClr>
              <a:buSzPts val="2000"/>
              <a:buNone/>
            </a:pPr>
            <a:r>
              <a:rPr lang="en-US" sz="2000" b="1" u="sng" dirty="0">
                <a:solidFill>
                  <a:srgbClr val="444444"/>
                </a:solidFill>
                <a:latin typeface="Cambria"/>
                <a:ea typeface="Cambria"/>
                <a:cs typeface="Cambria"/>
                <a:sym typeface="Cambria"/>
              </a:rPr>
              <a:t>Resumed State</a:t>
            </a:r>
            <a:endParaRPr sz="2000" dirty="0">
              <a:solidFill>
                <a:srgbClr val="444444"/>
              </a:solidFill>
              <a:latin typeface="Cambria"/>
              <a:ea typeface="Cambria"/>
              <a:cs typeface="Cambria"/>
              <a:sym typeface="Cambria"/>
            </a:endParaRPr>
          </a:p>
          <a:p>
            <a:pPr marL="228600" lvl="0" indent="-228600" algn="l" rtl="0">
              <a:lnSpc>
                <a:spcPct val="90000"/>
              </a:lnSpc>
              <a:spcBef>
                <a:spcPts val="1000"/>
              </a:spcBef>
              <a:spcAft>
                <a:spcPts val="0"/>
              </a:spcAft>
              <a:buClr>
                <a:srgbClr val="444444"/>
              </a:buClr>
              <a:buSzPts val="2000"/>
              <a:buChar char="•"/>
            </a:pPr>
            <a:r>
              <a:rPr lang="en-US" sz="2000" dirty="0">
                <a:solidFill>
                  <a:srgbClr val="444444"/>
                </a:solidFill>
                <a:latin typeface="Cambria"/>
                <a:ea typeface="Cambria"/>
                <a:cs typeface="Cambria"/>
                <a:sym typeface="Cambria"/>
              </a:rPr>
              <a:t>It is when an activity goes from the paused state to the  foreground that is an </a:t>
            </a:r>
            <a:r>
              <a:rPr lang="en-US" sz="2000" b="1" dirty="0">
                <a:solidFill>
                  <a:srgbClr val="444444"/>
                </a:solidFill>
                <a:latin typeface="Cambria"/>
                <a:ea typeface="Cambria"/>
                <a:cs typeface="Cambria"/>
                <a:sym typeface="Cambria"/>
              </a:rPr>
              <a:t>active </a:t>
            </a:r>
            <a:r>
              <a:rPr lang="en-US" sz="2000" dirty="0">
                <a:solidFill>
                  <a:srgbClr val="444444"/>
                </a:solidFill>
                <a:latin typeface="Cambria"/>
                <a:ea typeface="Cambria"/>
                <a:cs typeface="Cambria"/>
                <a:sym typeface="Cambria"/>
              </a:rPr>
              <a:t>state</a:t>
            </a:r>
            <a:endParaRPr sz="2000" dirty="0">
              <a:latin typeface="Cambria"/>
              <a:ea typeface="Cambria"/>
              <a:cs typeface="Cambria"/>
              <a:sym typeface="Cambria"/>
            </a:endParaRPr>
          </a:p>
          <a:p>
            <a:pPr marL="228600" lvl="0" indent="-50800" algn="l" rtl="0">
              <a:lnSpc>
                <a:spcPct val="90000"/>
              </a:lnSpc>
              <a:spcBef>
                <a:spcPts val="1000"/>
              </a:spcBef>
              <a:spcAft>
                <a:spcPts val="0"/>
              </a:spcAft>
              <a:buClr>
                <a:schemeClr val="dk1"/>
              </a:buClr>
              <a:buSzPts val="2800"/>
              <a:buNone/>
            </a:pPr>
            <a:endParaRPr dirty="0">
              <a:latin typeface="Gill Sans"/>
              <a:ea typeface="Gill Sans"/>
              <a:cs typeface="Gill Sans"/>
              <a:sym typeface="Gill Sans"/>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Activity</a:t>
            </a:r>
            <a:endParaRPr sz="2400" b="1">
              <a:latin typeface="Cambria"/>
              <a:ea typeface="Cambria"/>
              <a:cs typeface="Cambria"/>
              <a:sym typeface="Cambria"/>
            </a:endParaRPr>
          </a:p>
        </p:txBody>
      </p:sp>
      <p:sp>
        <p:nvSpPr>
          <p:cNvPr id="171" name="Google Shape;17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0320" marR="5080" lvl="0" indent="0" algn="l" rtl="0">
              <a:lnSpc>
                <a:spcPct val="100000"/>
              </a:lnSpc>
              <a:spcBef>
                <a:spcPts val="0"/>
              </a:spcBef>
              <a:spcAft>
                <a:spcPts val="0"/>
              </a:spcAft>
              <a:buClr>
                <a:srgbClr val="212529"/>
              </a:buClr>
              <a:buSzPts val="2000"/>
              <a:buNone/>
            </a:pPr>
            <a:r>
              <a:rPr lang="en-US" sz="2000" b="1" u="sng" dirty="0">
                <a:solidFill>
                  <a:srgbClr val="212529"/>
                </a:solidFill>
                <a:latin typeface="Cambria"/>
                <a:ea typeface="Cambria"/>
                <a:cs typeface="Cambria"/>
                <a:sym typeface="Cambria"/>
              </a:rPr>
              <a:t>Stopped State:</a:t>
            </a:r>
            <a:endParaRPr dirty="0"/>
          </a:p>
          <a:p>
            <a:pPr marL="194945" marR="5080" lvl="0" indent="-174625" algn="l" rtl="0">
              <a:lnSpc>
                <a:spcPct val="100000"/>
              </a:lnSpc>
              <a:spcBef>
                <a:spcPts val="100"/>
              </a:spcBef>
              <a:spcAft>
                <a:spcPts val="0"/>
              </a:spcAft>
              <a:buClr>
                <a:srgbClr val="212529"/>
              </a:buClr>
              <a:buSzPts val="2000"/>
              <a:buFont typeface="Arial"/>
              <a:buChar char="•"/>
            </a:pPr>
            <a:r>
              <a:rPr lang="en-US" sz="2000" dirty="0">
                <a:solidFill>
                  <a:srgbClr val="212529"/>
                </a:solidFill>
                <a:latin typeface="Cambria"/>
                <a:ea typeface="Cambria"/>
                <a:cs typeface="Cambria"/>
                <a:sym typeface="Cambria"/>
              </a:rPr>
              <a:t>When a new Activity is started on top of the current one or when a user hits the Home key, the activity is brought to Stopped state.</a:t>
            </a:r>
            <a:endParaRPr sz="2000" dirty="0">
              <a:latin typeface="Cambria"/>
              <a:ea typeface="Cambria"/>
              <a:cs typeface="Cambria"/>
              <a:sym typeface="Cambria"/>
            </a:endParaRPr>
          </a:p>
          <a:p>
            <a:pPr marL="195580" lvl="0" indent="-174625" algn="l" rtl="0">
              <a:lnSpc>
                <a:spcPct val="100000"/>
              </a:lnSpc>
              <a:spcBef>
                <a:spcPts val="1000"/>
              </a:spcBef>
              <a:spcAft>
                <a:spcPts val="0"/>
              </a:spcAft>
              <a:buClr>
                <a:srgbClr val="212529"/>
              </a:buClr>
              <a:buSzPts val="2000"/>
              <a:buFont typeface="Arial"/>
              <a:buChar char="•"/>
            </a:pPr>
            <a:r>
              <a:rPr lang="en-US" sz="2000" dirty="0">
                <a:solidFill>
                  <a:srgbClr val="212529"/>
                </a:solidFill>
                <a:latin typeface="Cambria"/>
                <a:ea typeface="Cambria"/>
                <a:cs typeface="Cambria"/>
                <a:sym typeface="Cambria"/>
              </a:rPr>
              <a:t>The activity in this state is invisible, but it is not destroyed.</a:t>
            </a:r>
            <a:endParaRPr sz="2000" dirty="0">
              <a:latin typeface="Cambria"/>
              <a:ea typeface="Cambria"/>
              <a:cs typeface="Cambria"/>
              <a:sym typeface="Cambria"/>
            </a:endParaRPr>
          </a:p>
          <a:p>
            <a:pPr marL="195580" lvl="0" indent="-174625" algn="l" rtl="0">
              <a:lnSpc>
                <a:spcPct val="100000"/>
              </a:lnSpc>
              <a:spcBef>
                <a:spcPts val="1000"/>
              </a:spcBef>
              <a:spcAft>
                <a:spcPts val="0"/>
              </a:spcAft>
              <a:buClr>
                <a:srgbClr val="212529"/>
              </a:buClr>
              <a:buSzPts val="2000"/>
              <a:buFont typeface="Arial"/>
              <a:buChar char="•"/>
            </a:pPr>
            <a:r>
              <a:rPr lang="en-US" sz="2000" dirty="0">
                <a:solidFill>
                  <a:srgbClr val="212529"/>
                </a:solidFill>
                <a:latin typeface="Cambria"/>
                <a:ea typeface="Cambria"/>
                <a:cs typeface="Cambria"/>
                <a:sym typeface="Cambria"/>
              </a:rPr>
              <a:t>Android Runtime may kill such an Activity in case of resource crunch.</a:t>
            </a:r>
            <a:endParaRPr sz="2000" dirty="0">
              <a:latin typeface="Cambria"/>
              <a:ea typeface="Cambria"/>
              <a:cs typeface="Cambria"/>
              <a:sym typeface="Cambria"/>
            </a:endParaRPr>
          </a:p>
          <a:p>
            <a:pPr marL="228600" lvl="0" indent="-50800" algn="l" rtl="0">
              <a:lnSpc>
                <a:spcPct val="90000"/>
              </a:lnSpc>
              <a:spcBef>
                <a:spcPts val="1000"/>
              </a:spcBef>
              <a:spcAft>
                <a:spcPts val="0"/>
              </a:spcAft>
              <a:buClr>
                <a:schemeClr val="dk1"/>
              </a:buClr>
              <a:buSzPts val="2800"/>
              <a:buNone/>
            </a:pPr>
            <a:endParaRPr dirty="0">
              <a:latin typeface="Gill Sans"/>
              <a:ea typeface="Gill Sans"/>
              <a:cs typeface="Gill Sans"/>
              <a:sym typeface="Gill Sans"/>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Intent</a:t>
            </a:r>
            <a:endParaRPr sz="2400" b="1">
              <a:latin typeface="Cambria"/>
              <a:ea typeface="Cambria"/>
              <a:cs typeface="Cambria"/>
              <a:sym typeface="Cambria"/>
            </a:endParaRPr>
          </a:p>
        </p:txBody>
      </p:sp>
      <p:sp>
        <p:nvSpPr>
          <p:cNvPr id="178" name="Google Shape;178;p12"/>
          <p:cNvSpPr txBox="1">
            <a:spLocks noGrp="1"/>
          </p:cNvSpPr>
          <p:nvPr>
            <p:ph type="body" idx="1"/>
          </p:nvPr>
        </p:nvSpPr>
        <p:spPr>
          <a:xfrm>
            <a:off x="1451579" y="2015732"/>
            <a:ext cx="9603275" cy="4126651"/>
          </a:xfrm>
          <a:prstGeom prst="rect">
            <a:avLst/>
          </a:prstGeom>
          <a:noFill/>
          <a:ln>
            <a:noFill/>
          </a:ln>
        </p:spPr>
        <p:txBody>
          <a:bodyPr spcFirstLastPara="1" wrap="square" lIns="91425" tIns="45700" rIns="91425" bIns="45700" anchor="t" anchorCtr="0">
            <a:normAutofit fontScale="85000" lnSpcReduction="10000"/>
          </a:bodyPr>
          <a:lstStyle/>
          <a:p>
            <a:pPr marL="320040" marR="22225" lvl="0" indent="-307975" algn="just" rtl="0">
              <a:lnSpc>
                <a:spcPct val="116153"/>
              </a:lnSpc>
              <a:spcBef>
                <a:spcPts val="0"/>
              </a:spcBef>
              <a:spcAft>
                <a:spcPts val="0"/>
              </a:spcAft>
              <a:buClr>
                <a:srgbClr val="000000"/>
              </a:buClr>
              <a:buSzPct val="64285"/>
              <a:buFont typeface="Arial"/>
              <a:buChar char="•"/>
            </a:pPr>
            <a:r>
              <a:rPr lang="en-US" sz="2600">
                <a:latin typeface="Cambria"/>
                <a:ea typeface="Cambria"/>
                <a:cs typeface="Cambria"/>
                <a:sym typeface="Cambria"/>
              </a:rPr>
              <a:t>An </a:t>
            </a:r>
            <a:r>
              <a:rPr lang="en-US" sz="2600" b="1">
                <a:latin typeface="Cambria"/>
                <a:ea typeface="Cambria"/>
                <a:cs typeface="Cambria"/>
                <a:sym typeface="Cambria"/>
              </a:rPr>
              <a:t>Intent</a:t>
            </a:r>
            <a:r>
              <a:rPr lang="en-US" sz="2600">
                <a:latin typeface="Cambria"/>
                <a:ea typeface="Cambria"/>
                <a:cs typeface="Cambria"/>
                <a:sym typeface="Cambria"/>
              </a:rPr>
              <a:t> is a messaging object that allows components (such as activities, services, and broadcast receivers) to communicate with each other. </a:t>
            </a:r>
            <a:endParaRPr/>
          </a:p>
          <a:p>
            <a:pPr marL="320040" marR="22225" lvl="0" indent="-307975" algn="just" rtl="0">
              <a:lnSpc>
                <a:spcPct val="116153"/>
              </a:lnSpc>
              <a:spcBef>
                <a:spcPts val="540"/>
              </a:spcBef>
              <a:spcAft>
                <a:spcPts val="0"/>
              </a:spcAft>
              <a:buClr>
                <a:srgbClr val="000000"/>
              </a:buClr>
              <a:buSzPct val="64285"/>
              <a:buFont typeface="Arial"/>
              <a:buChar char="•"/>
            </a:pPr>
            <a:r>
              <a:rPr lang="en-US" sz="2600">
                <a:latin typeface="Cambria"/>
                <a:ea typeface="Cambria"/>
                <a:cs typeface="Cambria"/>
                <a:sym typeface="Cambria"/>
              </a:rPr>
              <a:t>Intents are primarily used to </a:t>
            </a:r>
            <a:r>
              <a:rPr lang="en-US" sz="2600" b="1">
                <a:latin typeface="Cambria"/>
                <a:ea typeface="Cambria"/>
                <a:cs typeface="Cambria"/>
                <a:sym typeface="Cambria"/>
              </a:rPr>
              <a:t>start new activities</a:t>
            </a:r>
            <a:r>
              <a:rPr lang="en-US" sz="2600">
                <a:latin typeface="Cambria"/>
                <a:ea typeface="Cambria"/>
                <a:cs typeface="Cambria"/>
                <a:sym typeface="Cambria"/>
              </a:rPr>
              <a:t>, </a:t>
            </a:r>
            <a:r>
              <a:rPr lang="en-US" sz="2600" b="1">
                <a:latin typeface="Cambria"/>
                <a:ea typeface="Cambria"/>
                <a:cs typeface="Cambria"/>
                <a:sym typeface="Cambria"/>
              </a:rPr>
              <a:t>pass data</a:t>
            </a:r>
            <a:r>
              <a:rPr lang="en-US" sz="2600">
                <a:latin typeface="Cambria"/>
                <a:ea typeface="Cambria"/>
                <a:cs typeface="Cambria"/>
                <a:sym typeface="Cambria"/>
              </a:rPr>
              <a:t>, </a:t>
            </a:r>
            <a:r>
              <a:rPr lang="en-US" sz="2600" b="1">
                <a:latin typeface="Cambria"/>
                <a:ea typeface="Cambria"/>
                <a:cs typeface="Cambria"/>
                <a:sym typeface="Cambria"/>
              </a:rPr>
              <a:t>invoke system services</a:t>
            </a:r>
            <a:r>
              <a:rPr lang="en-US" sz="2600">
                <a:latin typeface="Cambria"/>
                <a:ea typeface="Cambria"/>
                <a:cs typeface="Cambria"/>
                <a:sym typeface="Cambria"/>
              </a:rPr>
              <a:t>, or </a:t>
            </a:r>
            <a:r>
              <a:rPr lang="en-US" sz="2600" b="1">
                <a:latin typeface="Cambria"/>
                <a:ea typeface="Cambria"/>
                <a:cs typeface="Cambria"/>
                <a:sym typeface="Cambria"/>
              </a:rPr>
              <a:t>broadcast messages</a:t>
            </a:r>
            <a:r>
              <a:rPr lang="en-US" sz="2600">
                <a:latin typeface="Cambria"/>
                <a:ea typeface="Cambria"/>
                <a:cs typeface="Cambria"/>
                <a:sym typeface="Cambria"/>
              </a:rPr>
              <a:t> across the system.</a:t>
            </a:r>
            <a:endParaRPr sz="2600">
              <a:solidFill>
                <a:srgbClr val="333333"/>
              </a:solidFill>
              <a:latin typeface="Cambria"/>
              <a:ea typeface="Cambria"/>
              <a:cs typeface="Cambria"/>
              <a:sym typeface="Cambria"/>
            </a:endParaRPr>
          </a:p>
          <a:p>
            <a:pPr marL="320040" marR="22225" lvl="0" indent="-307975" algn="just" rtl="0">
              <a:lnSpc>
                <a:spcPct val="116153"/>
              </a:lnSpc>
              <a:spcBef>
                <a:spcPts val="540"/>
              </a:spcBef>
              <a:spcAft>
                <a:spcPts val="0"/>
              </a:spcAft>
              <a:buClr>
                <a:srgbClr val="000000"/>
              </a:buClr>
              <a:buSzPct val="64285"/>
              <a:buFont typeface="Arial"/>
              <a:buChar char="•"/>
            </a:pPr>
            <a:r>
              <a:rPr lang="en-US" sz="2600">
                <a:solidFill>
                  <a:srgbClr val="333333"/>
                </a:solidFill>
                <a:latin typeface="Cambria"/>
                <a:ea typeface="Cambria"/>
                <a:cs typeface="Cambria"/>
                <a:sym typeface="Cambria"/>
              </a:rPr>
              <a:t>Android intents are mainly used to:</a:t>
            </a:r>
            <a:endParaRPr sz="2600">
              <a:latin typeface="Cambria"/>
              <a:ea typeface="Cambria"/>
              <a:cs typeface="Cambria"/>
              <a:sym typeface="Cambria"/>
            </a:endParaRPr>
          </a:p>
          <a:p>
            <a:pPr marL="927100" lvl="1" indent="-457200" algn="just" rtl="0">
              <a:lnSpc>
                <a:spcPct val="100000"/>
              </a:lnSpc>
              <a:spcBef>
                <a:spcPts val="215"/>
              </a:spcBef>
              <a:spcAft>
                <a:spcPts val="0"/>
              </a:spcAft>
              <a:buClr>
                <a:schemeClr val="dk1"/>
              </a:buClr>
              <a:buSzPct val="75000"/>
              <a:buFont typeface="Noto Sans Symbols"/>
              <a:buChar char="⮚"/>
            </a:pPr>
            <a:r>
              <a:rPr lang="en-US" sz="2600">
                <a:latin typeface="Cambria"/>
                <a:ea typeface="Cambria"/>
                <a:cs typeface="Cambria"/>
                <a:sym typeface="Cambria"/>
              </a:rPr>
              <a:t>Start the service</a:t>
            </a:r>
            <a:endParaRPr sz="2600">
              <a:latin typeface="Cambria"/>
              <a:ea typeface="Cambria"/>
              <a:cs typeface="Cambria"/>
              <a:sym typeface="Cambria"/>
            </a:endParaRPr>
          </a:p>
          <a:p>
            <a:pPr marL="927100" lvl="1" indent="-457200" algn="just" rtl="0">
              <a:lnSpc>
                <a:spcPct val="100000"/>
              </a:lnSpc>
              <a:spcBef>
                <a:spcPts val="215"/>
              </a:spcBef>
              <a:spcAft>
                <a:spcPts val="0"/>
              </a:spcAft>
              <a:buClr>
                <a:schemeClr val="dk1"/>
              </a:buClr>
              <a:buSzPct val="75000"/>
              <a:buFont typeface="Noto Sans Symbols"/>
              <a:buChar char="⮚"/>
            </a:pPr>
            <a:r>
              <a:rPr lang="en-US" sz="2600">
                <a:latin typeface="Cambria"/>
                <a:ea typeface="Cambria"/>
                <a:cs typeface="Cambria"/>
                <a:sym typeface="Cambria"/>
              </a:rPr>
              <a:t>Launch an activity</a:t>
            </a:r>
            <a:endParaRPr sz="2600">
              <a:latin typeface="Cambria"/>
              <a:ea typeface="Cambria"/>
              <a:cs typeface="Cambria"/>
              <a:sym typeface="Cambria"/>
            </a:endParaRPr>
          </a:p>
          <a:p>
            <a:pPr marL="927100" lvl="1" indent="-457200" algn="just" rtl="0">
              <a:lnSpc>
                <a:spcPct val="100000"/>
              </a:lnSpc>
              <a:spcBef>
                <a:spcPts val="210"/>
              </a:spcBef>
              <a:spcAft>
                <a:spcPts val="0"/>
              </a:spcAft>
              <a:buClr>
                <a:schemeClr val="dk1"/>
              </a:buClr>
              <a:buSzPct val="75000"/>
              <a:buFont typeface="Noto Sans Symbols"/>
              <a:buChar char="⮚"/>
            </a:pPr>
            <a:r>
              <a:rPr lang="en-US" sz="2600">
                <a:latin typeface="Cambria"/>
                <a:ea typeface="Cambria"/>
                <a:cs typeface="Cambria"/>
                <a:sym typeface="Cambria"/>
              </a:rPr>
              <a:t>Display a web page</a:t>
            </a:r>
            <a:endParaRPr sz="2600">
              <a:latin typeface="Cambria"/>
              <a:ea typeface="Cambria"/>
              <a:cs typeface="Cambria"/>
              <a:sym typeface="Cambria"/>
            </a:endParaRPr>
          </a:p>
          <a:p>
            <a:pPr marL="927100" lvl="1" indent="-457200" algn="just" rtl="0">
              <a:lnSpc>
                <a:spcPct val="100000"/>
              </a:lnSpc>
              <a:spcBef>
                <a:spcPts val="215"/>
              </a:spcBef>
              <a:spcAft>
                <a:spcPts val="0"/>
              </a:spcAft>
              <a:buClr>
                <a:schemeClr val="dk1"/>
              </a:buClr>
              <a:buSzPct val="75000"/>
              <a:buFont typeface="Noto Sans Symbols"/>
              <a:buChar char="⮚"/>
            </a:pPr>
            <a:r>
              <a:rPr lang="en-US" sz="2600">
                <a:latin typeface="Cambria"/>
                <a:ea typeface="Cambria"/>
                <a:cs typeface="Cambria"/>
                <a:sym typeface="Cambria"/>
              </a:rPr>
              <a:t>Display a list of contacts</a:t>
            </a:r>
            <a:endParaRPr sz="2600">
              <a:latin typeface="Cambria"/>
              <a:ea typeface="Cambria"/>
              <a:cs typeface="Cambria"/>
              <a:sym typeface="Cambria"/>
            </a:endParaRPr>
          </a:p>
          <a:p>
            <a:pPr marL="927100" lvl="1" indent="-457200" algn="just" rtl="0">
              <a:lnSpc>
                <a:spcPct val="100000"/>
              </a:lnSpc>
              <a:spcBef>
                <a:spcPts val="210"/>
              </a:spcBef>
              <a:spcAft>
                <a:spcPts val="0"/>
              </a:spcAft>
              <a:buClr>
                <a:schemeClr val="dk1"/>
              </a:buClr>
              <a:buSzPct val="75000"/>
              <a:buFont typeface="Noto Sans Symbols"/>
              <a:buChar char="⮚"/>
            </a:pPr>
            <a:r>
              <a:rPr lang="en-US" sz="2600">
                <a:latin typeface="Cambria"/>
                <a:ea typeface="Cambria"/>
                <a:cs typeface="Cambria"/>
                <a:sym typeface="Cambria"/>
              </a:rPr>
              <a:t>Broadcast a message</a:t>
            </a:r>
            <a:endParaRPr sz="2600">
              <a:latin typeface="Cambria"/>
              <a:ea typeface="Cambria"/>
              <a:cs typeface="Cambria"/>
              <a:sym typeface="Cambria"/>
            </a:endParaRPr>
          </a:p>
          <a:p>
            <a:pPr marL="927100" lvl="1" indent="-457200" algn="just" rtl="0">
              <a:lnSpc>
                <a:spcPct val="100000"/>
              </a:lnSpc>
              <a:spcBef>
                <a:spcPts val="210"/>
              </a:spcBef>
              <a:spcAft>
                <a:spcPts val="0"/>
              </a:spcAft>
              <a:buClr>
                <a:schemeClr val="dk1"/>
              </a:buClr>
              <a:buSzPct val="75000"/>
              <a:buFont typeface="Noto Sans Symbols"/>
              <a:buChar char="⮚"/>
            </a:pPr>
            <a:r>
              <a:rPr lang="en-US" sz="2600">
                <a:latin typeface="Cambria"/>
                <a:ea typeface="Cambria"/>
                <a:cs typeface="Cambria"/>
                <a:sym typeface="Cambria"/>
              </a:rPr>
              <a:t>Dial a phone call etc.</a:t>
            </a:r>
            <a:endParaRPr>
              <a:latin typeface="Calibri"/>
              <a:ea typeface="Calibri"/>
              <a:cs typeface="Calibri"/>
              <a:sym typeface="Calibri"/>
            </a:endParaRPr>
          </a:p>
          <a:p>
            <a:pPr marL="693420" marR="5080" lvl="1" indent="-196850" algn="l" rtl="0">
              <a:lnSpc>
                <a:spcPct val="89700"/>
              </a:lnSpc>
              <a:spcBef>
                <a:spcPts val="605"/>
              </a:spcBef>
              <a:spcAft>
                <a:spcPts val="0"/>
              </a:spcAft>
              <a:buClr>
                <a:schemeClr val="dk1"/>
              </a:buClr>
              <a:buSzPct val="100000"/>
              <a:buFont typeface="Arial"/>
              <a:buNone/>
            </a:pPr>
            <a:endParaRPr sz="2000">
              <a:latin typeface="Calibri"/>
              <a:ea typeface="Calibri"/>
              <a:cs typeface="Calibri"/>
              <a:sym typeface="Calibri"/>
            </a:endParaRPr>
          </a:p>
          <a:p>
            <a:pPr marL="228600" lvl="0" indent="-77470" algn="l" rtl="0">
              <a:lnSpc>
                <a:spcPct val="90000"/>
              </a:lnSpc>
              <a:spcBef>
                <a:spcPts val="1000"/>
              </a:spcBef>
              <a:spcAft>
                <a:spcPts val="0"/>
              </a:spcAft>
              <a:buClr>
                <a:schemeClr val="dk1"/>
              </a:buClr>
              <a:buSzPct val="100000"/>
              <a:buNone/>
            </a:pPr>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Intent</a:t>
            </a:r>
            <a:endParaRPr sz="2400" b="1">
              <a:latin typeface="Cambria"/>
              <a:ea typeface="Cambria"/>
              <a:cs typeface="Cambria"/>
              <a:sym typeface="Cambria"/>
            </a:endParaRPr>
          </a:p>
        </p:txBody>
      </p:sp>
      <p:sp>
        <p:nvSpPr>
          <p:cNvPr id="185" name="Google Shape;185;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000"/>
              <a:buNone/>
            </a:pPr>
            <a:r>
              <a:rPr lang="en-US" sz="2000" b="1">
                <a:latin typeface="Cambria"/>
                <a:ea typeface="Cambria"/>
                <a:cs typeface="Cambria"/>
                <a:sym typeface="Cambria"/>
              </a:rPr>
              <a:t>Types of Intent:</a:t>
            </a:r>
            <a:endParaRPr/>
          </a:p>
          <a:p>
            <a:pPr marL="457200" lvl="0" indent="-457200" algn="just" rtl="0">
              <a:lnSpc>
                <a:spcPct val="90000"/>
              </a:lnSpc>
              <a:spcBef>
                <a:spcPts val="1000"/>
              </a:spcBef>
              <a:spcAft>
                <a:spcPts val="0"/>
              </a:spcAft>
              <a:buClr>
                <a:schemeClr val="dk1"/>
              </a:buClr>
              <a:buSzPts val="2000"/>
              <a:buChar char="•"/>
            </a:pPr>
            <a:r>
              <a:rPr lang="en-US" sz="2000" b="1">
                <a:latin typeface="Cambria"/>
                <a:ea typeface="Cambria"/>
                <a:cs typeface="Cambria"/>
                <a:sym typeface="Cambria"/>
              </a:rPr>
              <a:t>Explicit Intent: </a:t>
            </a:r>
            <a:r>
              <a:rPr lang="en-US" sz="2000">
                <a:latin typeface="Cambria"/>
                <a:ea typeface="Cambria"/>
                <a:cs typeface="Cambria"/>
                <a:sym typeface="Cambria"/>
              </a:rPr>
              <a:t>Used when you explicitly specify the target component (e.g., starting a specific activity or service).</a:t>
            </a:r>
            <a:endParaRPr sz="2000">
              <a:latin typeface="Cambria"/>
              <a:ea typeface="Cambria"/>
              <a:cs typeface="Cambria"/>
              <a:sym typeface="Cambria"/>
            </a:endParaRPr>
          </a:p>
          <a:p>
            <a:pPr marL="457200" lvl="0" indent="-4572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Example: Navigating from one activity to another within the same application.</a:t>
            </a:r>
            <a:endParaRPr sz="2000">
              <a:latin typeface="Cambria"/>
              <a:ea typeface="Cambria"/>
              <a:cs typeface="Cambria"/>
              <a:sym typeface="Cambria"/>
            </a:endParaRPr>
          </a:p>
          <a:p>
            <a:pPr marL="457200" lvl="0" indent="-457200" algn="just" rtl="0">
              <a:lnSpc>
                <a:spcPct val="90000"/>
              </a:lnSpc>
              <a:spcBef>
                <a:spcPts val="1000"/>
              </a:spcBef>
              <a:spcAft>
                <a:spcPts val="0"/>
              </a:spcAft>
              <a:buClr>
                <a:schemeClr val="dk1"/>
              </a:buClr>
              <a:buSzPts val="2000"/>
              <a:buChar char="•"/>
            </a:pPr>
            <a:r>
              <a:rPr lang="en-US" sz="2000" b="1">
                <a:latin typeface="Cambria"/>
                <a:ea typeface="Cambria"/>
                <a:cs typeface="Cambria"/>
                <a:sym typeface="Cambria"/>
              </a:rPr>
              <a:t>Implicit Intent: </a:t>
            </a:r>
            <a:r>
              <a:rPr lang="en-US" sz="2000">
                <a:latin typeface="Cambria"/>
                <a:ea typeface="Cambria"/>
                <a:cs typeface="Cambria"/>
                <a:sym typeface="Cambria"/>
              </a:rPr>
              <a:t>Used when you don’t specify the target component directly. Instead, you declare an action, and the system determines the appropriate component (e.g., opening a web page or sharing content).</a:t>
            </a:r>
            <a:endParaRPr sz="2000">
              <a:latin typeface="Cambria"/>
              <a:ea typeface="Cambria"/>
              <a:cs typeface="Cambria"/>
              <a:sym typeface="Cambria"/>
            </a:endParaRPr>
          </a:p>
          <a:p>
            <a:pPr marL="457200" lvl="0" indent="-4572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Example: Opening a web page in the browser.</a:t>
            </a:r>
            <a:endParaRPr/>
          </a:p>
          <a:p>
            <a:pPr marL="295910" lvl="0" indent="-181609" algn="l" rtl="0">
              <a:lnSpc>
                <a:spcPct val="142812"/>
              </a:lnSpc>
              <a:spcBef>
                <a:spcPts val="1000"/>
              </a:spcBef>
              <a:spcAft>
                <a:spcPts val="0"/>
              </a:spcAft>
              <a:buClr>
                <a:schemeClr val="dk1"/>
              </a:buClr>
              <a:buSzPts val="1600"/>
              <a:buFont typeface="Arial"/>
              <a:buNone/>
            </a:pPr>
            <a:endParaRPr sz="1600">
              <a:latin typeface="Calibri"/>
              <a:ea typeface="Calibri"/>
              <a:cs typeface="Calibri"/>
              <a:sym typeface="Calibri"/>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4"/>
          <p:cNvSpPr txBox="1">
            <a:spLocks noGrp="1"/>
          </p:cNvSpPr>
          <p:nvPr>
            <p:ph type="title"/>
          </p:nvPr>
        </p:nvSpPr>
        <p:spPr>
          <a:xfrm>
            <a:off x="838200" y="33699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Intent</a:t>
            </a:r>
            <a:endParaRPr sz="2400" b="1">
              <a:latin typeface="Cambria"/>
              <a:ea typeface="Cambria"/>
              <a:cs typeface="Cambria"/>
              <a:sym typeface="Cambria"/>
            </a:endParaRPr>
          </a:p>
        </p:txBody>
      </p:sp>
      <p:sp>
        <p:nvSpPr>
          <p:cNvPr id="192" name="Google Shape;192;p14"/>
          <p:cNvSpPr txBo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186690" marR="5080" lvl="0" indent="-174625" algn="just" rtl="0">
              <a:lnSpc>
                <a:spcPct val="100000"/>
              </a:lnSpc>
              <a:spcBef>
                <a:spcPts val="0"/>
              </a:spcBef>
              <a:spcAft>
                <a:spcPts val="0"/>
              </a:spcAft>
              <a:buClr>
                <a:schemeClr val="accent1"/>
              </a:buClr>
              <a:buSzPts val="2000"/>
              <a:buFont typeface="Arial"/>
              <a:buChar char="•"/>
            </a:pPr>
            <a:r>
              <a:rPr lang="en-US" sz="2000" b="0" i="0" u="none" strike="noStrike" cap="none">
                <a:solidFill>
                  <a:schemeClr val="dk1"/>
                </a:solidFill>
                <a:latin typeface="Cambria"/>
                <a:ea typeface="Cambria"/>
                <a:cs typeface="Cambria"/>
                <a:sym typeface="Cambria"/>
              </a:rPr>
              <a:t>To implement activities in our application, we need to register them in the Manifest file. For the activities to work properly, we must manage their lifecycle properly.</a:t>
            </a:r>
            <a:endParaRPr sz="2000" b="0" i="0" u="none" strike="noStrike" cap="none">
              <a:solidFill>
                <a:schemeClr val="dk1"/>
              </a:solidFill>
              <a:latin typeface="Cambria"/>
              <a:ea typeface="Cambria"/>
              <a:cs typeface="Cambria"/>
              <a:sym typeface="Cambria"/>
            </a:endParaRPr>
          </a:p>
          <a:p>
            <a:pPr marL="643890" marR="5080" lvl="1" indent="-174625" algn="just" rtl="0">
              <a:lnSpc>
                <a:spcPct val="100000"/>
              </a:lnSpc>
              <a:spcBef>
                <a:spcPts val="100"/>
              </a:spcBef>
              <a:spcAft>
                <a:spcPts val="0"/>
              </a:spcAft>
              <a:buClr>
                <a:schemeClr val="accent1"/>
              </a:buClr>
              <a:buSzPts val="2000"/>
              <a:buFont typeface="Arial"/>
              <a:buChar char="•"/>
            </a:pPr>
            <a:r>
              <a:rPr lang="en-US" sz="2000" b="0" i="0" u="none" strike="noStrike" cap="none">
                <a:solidFill>
                  <a:schemeClr val="dk1"/>
                </a:solidFill>
                <a:latin typeface="Cambria"/>
                <a:ea typeface="Cambria"/>
                <a:cs typeface="Cambria"/>
                <a:sym typeface="Cambria"/>
              </a:rPr>
              <a:t>Declare Activities</a:t>
            </a:r>
            <a:endParaRPr sz="2000" b="0" i="0" u="none" strike="noStrike" cap="none">
              <a:solidFill>
                <a:schemeClr val="dk1"/>
              </a:solidFill>
              <a:latin typeface="Cambria"/>
              <a:ea typeface="Cambria"/>
              <a:cs typeface="Cambria"/>
              <a:sym typeface="Cambria"/>
            </a:endParaRPr>
          </a:p>
          <a:p>
            <a:pPr marL="643890" marR="5080" lvl="1" indent="-174625" algn="just" rtl="0">
              <a:lnSpc>
                <a:spcPct val="100000"/>
              </a:lnSpc>
              <a:spcBef>
                <a:spcPts val="100"/>
              </a:spcBef>
              <a:spcAft>
                <a:spcPts val="0"/>
              </a:spcAft>
              <a:buClr>
                <a:schemeClr val="accent1"/>
              </a:buClr>
              <a:buSzPts val="2000"/>
              <a:buFont typeface="Arial"/>
              <a:buChar char="•"/>
            </a:pPr>
            <a:r>
              <a:rPr lang="en-US" sz="2000" b="0" i="0" u="none" strike="noStrike" cap="none">
                <a:solidFill>
                  <a:schemeClr val="dk1"/>
                </a:solidFill>
                <a:latin typeface="Cambria"/>
                <a:ea typeface="Cambria"/>
                <a:cs typeface="Cambria"/>
                <a:sym typeface="Cambria"/>
              </a:rPr>
              <a:t>Declare Intent Filters</a:t>
            </a:r>
            <a:endParaRPr sz="2000" b="0" i="0" u="none" strike="noStrike" cap="none">
              <a:solidFill>
                <a:schemeClr val="dk1"/>
              </a:solidFill>
              <a:latin typeface="Cambria"/>
              <a:ea typeface="Cambria"/>
              <a:cs typeface="Cambria"/>
              <a:sym typeface="Cambria"/>
            </a:endParaRPr>
          </a:p>
          <a:p>
            <a:pPr marL="643890" marR="5080" lvl="1" indent="-174625" algn="just" rtl="0">
              <a:lnSpc>
                <a:spcPct val="100000"/>
              </a:lnSpc>
              <a:spcBef>
                <a:spcPts val="100"/>
              </a:spcBef>
              <a:spcAft>
                <a:spcPts val="0"/>
              </a:spcAft>
              <a:buClr>
                <a:schemeClr val="accent1"/>
              </a:buClr>
              <a:buSzPts val="2000"/>
              <a:buFont typeface="Arial"/>
              <a:buChar char="•"/>
            </a:pPr>
            <a:r>
              <a:rPr lang="en-US" sz="2000" b="0" i="0" u="none" strike="noStrike" cap="none">
                <a:solidFill>
                  <a:schemeClr val="dk1"/>
                </a:solidFill>
                <a:latin typeface="Cambria"/>
                <a:ea typeface="Cambria"/>
                <a:cs typeface="Cambria"/>
                <a:sym typeface="Cambria"/>
              </a:rPr>
              <a:t>Declare Permission</a:t>
            </a:r>
            <a:endParaRPr sz="2000" b="0" i="0" u="none" strike="noStrike" cap="none">
              <a:solidFill>
                <a:schemeClr val="dk1"/>
              </a:solidFill>
              <a:latin typeface="Cambria"/>
              <a:ea typeface="Cambria"/>
              <a:cs typeface="Cambria"/>
              <a:sym typeface="Cambria"/>
            </a:endParaRPr>
          </a:p>
          <a:p>
            <a:pPr marL="295910" marR="0" lvl="0" indent="-191134" algn="l" rtl="0">
              <a:lnSpc>
                <a:spcPct val="157586"/>
              </a:lnSpc>
              <a:spcBef>
                <a:spcPts val="1000"/>
              </a:spcBef>
              <a:spcAft>
                <a:spcPts val="0"/>
              </a:spcAft>
              <a:buClr>
                <a:schemeClr val="accent1"/>
              </a:buClr>
              <a:buSzPts val="1450"/>
              <a:buFont typeface="Arial"/>
              <a:buNone/>
            </a:pPr>
            <a:endParaRPr sz="1450" b="0" i="0" u="none" strike="noStrike" cap="none">
              <a:solidFill>
                <a:schemeClr val="dk1"/>
              </a:solidFill>
              <a:latin typeface="Calibri"/>
              <a:ea typeface="Calibri"/>
              <a:cs typeface="Calibri"/>
              <a:sym typeface="Calibri"/>
            </a:endParaRPr>
          </a:p>
        </p:txBody>
      </p:sp>
      <p:pic>
        <p:nvPicPr>
          <p:cNvPr id="194" name="Google Shape;194;p14"/>
          <p:cNvPicPr preferRelativeResize="0"/>
          <p:nvPr/>
        </p:nvPicPr>
        <p:blipFill rotWithShape="1">
          <a:blip r:embed="rId3">
            <a:alphaModFix/>
          </a:blip>
          <a:srcRect/>
          <a:stretch/>
        </p:blipFill>
        <p:spPr>
          <a:xfrm>
            <a:off x="2057400" y="3952624"/>
            <a:ext cx="8077200" cy="1866900"/>
          </a:xfrm>
          <a:prstGeom prst="rect">
            <a:avLst/>
          </a:prstGeom>
          <a:solidFill>
            <a:srgbClr val="ECECEC"/>
          </a:solidFill>
          <a:ln w="190500" cap="rnd" cmpd="sng">
            <a:solidFill>
              <a:srgbClr val="FFFFFF"/>
            </a:solidFill>
            <a:prstDash val="solid"/>
            <a:round/>
            <a:headEnd type="none" w="sm" len="sm"/>
            <a:tailEnd type="none" w="sm" len="sm"/>
          </a:ln>
          <a:effectLst>
            <a:outerShdw blurRad="50000" algn="tl" rotWithShape="0">
              <a:srgbClr val="000000">
                <a:alpha val="40784"/>
              </a:srgbClr>
            </a:outerShdw>
          </a:effectLst>
        </p:spPr>
      </p:pic>
      <p:pic>
        <p:nvPicPr>
          <p:cNvPr id="6" name="Picture 5"/>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Service</a:t>
            </a:r>
            <a:endParaRPr sz="2400" b="1">
              <a:latin typeface="Cambria"/>
              <a:ea typeface="Cambria"/>
              <a:cs typeface="Cambria"/>
              <a:sym typeface="Cambria"/>
            </a:endParaRPr>
          </a:p>
        </p:txBody>
      </p:sp>
      <p:sp>
        <p:nvSpPr>
          <p:cNvPr id="200" name="Google Shape;200;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95910" marR="5080" lvl="0" indent="-283844" algn="just" rtl="0">
              <a:lnSpc>
                <a:spcPct val="101000"/>
              </a:lnSpc>
              <a:spcBef>
                <a:spcPts val="0"/>
              </a:spcBef>
              <a:spcAft>
                <a:spcPts val="0"/>
              </a:spcAft>
              <a:buClr>
                <a:schemeClr val="dk1"/>
              </a:buClr>
              <a:buSzPts val="2000"/>
              <a:buFont typeface="Arial"/>
              <a:buChar char="•"/>
            </a:pPr>
            <a:r>
              <a:rPr lang="en-US" sz="2000">
                <a:latin typeface="Cambria"/>
                <a:ea typeface="Cambria"/>
                <a:cs typeface="Cambria"/>
                <a:sym typeface="Cambria"/>
              </a:rPr>
              <a:t>A service is a component that runs in the background, it acts as an invisible worker of our application. It keeps updating data sources and activities. It also broadcasts intents and performs tasks when applications are not active. An example of service is we can surf the internet or use any other application while listening to music.</a:t>
            </a:r>
            <a:endParaRPr sz="2000">
              <a:latin typeface="Cambria"/>
              <a:ea typeface="Cambria"/>
              <a:cs typeface="Cambria"/>
              <a:sym typeface="Cambria"/>
            </a:endParaRPr>
          </a:p>
          <a:p>
            <a:pPr marL="295910" lvl="0" indent="-283210" algn="just" rtl="0">
              <a:lnSpc>
                <a:spcPct val="100000"/>
              </a:lnSpc>
              <a:spcBef>
                <a:spcPts val="625"/>
              </a:spcBef>
              <a:spcAft>
                <a:spcPts val="0"/>
              </a:spcAft>
              <a:buClr>
                <a:schemeClr val="dk1"/>
              </a:buClr>
              <a:buSzPts val="2000"/>
              <a:buFont typeface="Arial"/>
              <a:buChar char="•"/>
            </a:pPr>
            <a:r>
              <a:rPr lang="en-US" sz="2000">
                <a:latin typeface="Cambria"/>
                <a:ea typeface="Cambria"/>
                <a:cs typeface="Cambria"/>
                <a:sym typeface="Cambria"/>
              </a:rPr>
              <a:t>To execute services, extend the Services class in your sub-class:</a:t>
            </a:r>
            <a:endParaRPr sz="2000">
              <a:latin typeface="Cambria"/>
              <a:ea typeface="Cambria"/>
              <a:cs typeface="Cambria"/>
              <a:sym typeface="Cambria"/>
            </a:endParaRPr>
          </a:p>
          <a:p>
            <a:pPr marL="228600" lvl="0" indent="-101600" algn="just" rtl="0">
              <a:lnSpc>
                <a:spcPct val="90000"/>
              </a:lnSpc>
              <a:spcBef>
                <a:spcPts val="1000"/>
              </a:spcBef>
              <a:spcAft>
                <a:spcPts val="0"/>
              </a:spcAft>
              <a:buClr>
                <a:schemeClr val="dk1"/>
              </a:buClr>
              <a:buSzPts val="2000"/>
              <a:buNone/>
            </a:pPr>
            <a:endParaRPr sz="2000">
              <a:latin typeface="Cambria"/>
              <a:ea typeface="Cambria"/>
              <a:cs typeface="Cambria"/>
              <a:sym typeface="Cambria"/>
            </a:endParaRPr>
          </a:p>
        </p:txBody>
      </p:sp>
      <p:pic>
        <p:nvPicPr>
          <p:cNvPr id="201" name="Google Shape;201;p15"/>
          <p:cNvPicPr preferRelativeResize="0"/>
          <p:nvPr/>
        </p:nvPicPr>
        <p:blipFill rotWithShape="1">
          <a:blip r:embed="rId3">
            <a:alphaModFix/>
          </a:blip>
          <a:srcRect/>
          <a:stretch/>
        </p:blipFill>
        <p:spPr>
          <a:xfrm>
            <a:off x="2724453" y="4001294"/>
            <a:ext cx="5903975" cy="1129283"/>
          </a:xfrm>
          <a:prstGeom prst="rect">
            <a:avLst/>
          </a:prstGeom>
          <a:solidFill>
            <a:srgbClr val="ECECEC"/>
          </a:solidFill>
          <a:ln w="190500" cap="rnd" cmpd="sng">
            <a:solidFill>
              <a:srgbClr val="FFFFFF"/>
            </a:solidFill>
            <a:prstDash val="solid"/>
            <a:round/>
            <a:headEnd type="none" w="sm" len="sm"/>
            <a:tailEnd type="none" w="sm" len="sm"/>
          </a:ln>
          <a:effectLst>
            <a:outerShdw blurRad="50000" algn="tl" rotWithShape="0">
              <a:srgbClr val="000000">
                <a:alpha val="40784"/>
              </a:srgbClr>
            </a:outerShdw>
          </a:effectLst>
        </p:spPr>
      </p:pic>
      <p:pic>
        <p:nvPicPr>
          <p:cNvPr id="6" name="Picture 5"/>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Service</a:t>
            </a:r>
            <a:endParaRPr sz="2400" b="1">
              <a:latin typeface="Cambria"/>
              <a:ea typeface="Cambria"/>
              <a:cs typeface="Cambria"/>
              <a:sym typeface="Cambria"/>
            </a:endParaRPr>
          </a:p>
        </p:txBody>
      </p:sp>
      <p:pic>
        <p:nvPicPr>
          <p:cNvPr id="208" name="Google Shape;208;p16"/>
          <p:cNvPicPr preferRelativeResize="0">
            <a:picLocks noGrp="1"/>
          </p:cNvPicPr>
          <p:nvPr>
            <p:ph type="body" idx="1"/>
          </p:nvPr>
        </p:nvPicPr>
        <p:blipFill rotWithShape="1">
          <a:blip r:embed="rId3">
            <a:alphaModFix/>
          </a:blip>
          <a:srcRect/>
          <a:stretch/>
        </p:blipFill>
        <p:spPr>
          <a:xfrm>
            <a:off x="2015629" y="2693438"/>
            <a:ext cx="9039225" cy="3600450"/>
          </a:xfrm>
          <a:prstGeom prst="rect">
            <a:avLst/>
          </a:prstGeom>
          <a:solidFill>
            <a:srgbClr val="ECECEC"/>
          </a:solidFill>
          <a:ln w="190500" cap="rnd" cmpd="sng">
            <a:solidFill>
              <a:srgbClr val="FFFFFF"/>
            </a:solidFill>
            <a:prstDash val="solid"/>
            <a:round/>
            <a:headEnd type="none" w="sm" len="sm"/>
            <a:tailEnd type="none" w="sm" len="sm"/>
          </a:ln>
          <a:effectLst>
            <a:outerShdw blurRad="50000" algn="tl" rotWithShape="0">
              <a:srgbClr val="000000">
                <a:alpha val="40784"/>
              </a:srgbClr>
            </a:outerShdw>
          </a:effectLst>
        </p:spPr>
      </p:pic>
      <p:sp>
        <p:nvSpPr>
          <p:cNvPr id="209" name="Google Shape;209;p16"/>
          <p:cNvSpPr txBo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95910" marR="5080" lvl="0" indent="-283844" algn="l" rtl="0">
              <a:lnSpc>
                <a:spcPct val="99000"/>
              </a:lnSpc>
              <a:spcBef>
                <a:spcPts val="0"/>
              </a:spcBef>
              <a:spcAft>
                <a:spcPts val="0"/>
              </a:spcAft>
              <a:buClr>
                <a:schemeClr val="accent1"/>
              </a:buClr>
              <a:buSzPts val="2000"/>
              <a:buFont typeface="Arial"/>
              <a:buChar char="•"/>
            </a:pPr>
            <a:r>
              <a:rPr lang="en-US" sz="2000" b="0" i="0" u="none" strike="noStrike" cap="none">
                <a:solidFill>
                  <a:schemeClr val="dk1"/>
                </a:solidFill>
                <a:latin typeface="Cambria"/>
                <a:ea typeface="Cambria"/>
                <a:cs typeface="Cambria"/>
                <a:sym typeface="Cambria"/>
              </a:rPr>
              <a:t>Registering Services in Android Manifest</a:t>
            </a:r>
            <a:endParaRPr/>
          </a:p>
          <a:p>
            <a:pPr marL="228600" marR="0" lvl="0" indent="-101600" algn="l" rtl="0">
              <a:lnSpc>
                <a:spcPct val="120000"/>
              </a:lnSpc>
              <a:spcBef>
                <a:spcPts val="1000"/>
              </a:spcBef>
              <a:spcAft>
                <a:spcPts val="0"/>
              </a:spcAft>
              <a:buClr>
                <a:schemeClr val="accent1"/>
              </a:buClr>
              <a:buSzPts val="2000"/>
              <a:buFont typeface="Arial"/>
              <a:buNone/>
            </a:pPr>
            <a:endParaRPr sz="2000" b="0" i="0" u="none" strike="noStrike" cap="none">
              <a:solidFill>
                <a:schemeClr val="dk1"/>
              </a:solidFill>
              <a:latin typeface="Calibri"/>
              <a:ea typeface="Calibri"/>
              <a:cs typeface="Calibri"/>
              <a:sym typeface="Calibri"/>
            </a:endParaRPr>
          </a:p>
        </p:txBody>
      </p:sp>
      <p:pic>
        <p:nvPicPr>
          <p:cNvPr id="6" name="Picture 5"/>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Service</a:t>
            </a:r>
            <a:endParaRPr sz="2400" b="1">
              <a:latin typeface="Cambria"/>
              <a:ea typeface="Cambria"/>
              <a:cs typeface="Cambria"/>
              <a:sym typeface="Cambria"/>
            </a:endParaRPr>
          </a:p>
        </p:txBody>
      </p:sp>
      <p:pic>
        <p:nvPicPr>
          <p:cNvPr id="216" name="Google Shape;216;p17"/>
          <p:cNvPicPr preferRelativeResize="0"/>
          <p:nvPr/>
        </p:nvPicPr>
        <p:blipFill rotWithShape="1">
          <a:blip r:embed="rId3">
            <a:alphaModFix/>
          </a:blip>
          <a:srcRect/>
          <a:stretch/>
        </p:blipFill>
        <p:spPr>
          <a:xfrm>
            <a:off x="3732836" y="2126973"/>
            <a:ext cx="5040760" cy="3650618"/>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5" name="Picture 4"/>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Service – Foreground services</a:t>
            </a:r>
            <a:endParaRPr sz="2400" b="1">
              <a:latin typeface="Cambria"/>
              <a:ea typeface="Cambria"/>
              <a:cs typeface="Cambria"/>
              <a:sym typeface="Cambria"/>
            </a:endParaRPr>
          </a:p>
        </p:txBody>
      </p:sp>
      <p:sp>
        <p:nvSpPr>
          <p:cNvPr id="223" name="Google Shape;223;p18"/>
          <p:cNvSpPr txBox="1">
            <a:spLocks noGrp="1"/>
          </p:cNvSpPr>
          <p:nvPr>
            <p:ph type="body" idx="1"/>
          </p:nvPr>
        </p:nvSpPr>
        <p:spPr>
          <a:xfrm>
            <a:off x="350630" y="1793851"/>
            <a:ext cx="7554351" cy="3450613"/>
          </a:xfrm>
          <a:prstGeom prst="rect">
            <a:avLst/>
          </a:prstGeom>
          <a:noFill/>
          <a:ln>
            <a:noFill/>
          </a:ln>
        </p:spPr>
        <p:txBody>
          <a:bodyPr spcFirstLastPara="1" wrap="square" lIns="91425" tIns="45700" rIns="91425" bIns="45700" anchor="t" anchorCtr="0">
            <a:normAutofit fontScale="32500" lnSpcReduction="20000"/>
          </a:bodyPr>
          <a:lstStyle/>
          <a:p>
            <a:pPr marL="12065" marR="5080" lvl="0" indent="0" algn="just" rtl="0">
              <a:lnSpc>
                <a:spcPct val="35000"/>
              </a:lnSpc>
              <a:spcBef>
                <a:spcPts val="0"/>
              </a:spcBef>
              <a:spcAft>
                <a:spcPts val="0"/>
              </a:spcAft>
              <a:buClr>
                <a:schemeClr val="dk1"/>
              </a:buClr>
              <a:buSzPct val="100000"/>
              <a:buNone/>
            </a:pPr>
            <a:endParaRPr sz="8000" dirty="0">
              <a:latin typeface="Cambria"/>
              <a:ea typeface="Cambria"/>
              <a:cs typeface="Cambria"/>
              <a:sym typeface="Cambria"/>
            </a:endParaRPr>
          </a:p>
          <a:p>
            <a:pPr marL="191770" lvl="0" indent="-179070" algn="just" rtl="0">
              <a:lnSpc>
                <a:spcPct val="100000"/>
              </a:lnSpc>
              <a:spcBef>
                <a:spcPts val="630"/>
              </a:spcBef>
              <a:spcAft>
                <a:spcPts val="0"/>
              </a:spcAft>
              <a:buClr>
                <a:schemeClr val="dk1"/>
              </a:buClr>
              <a:buSzPct val="100000"/>
              <a:buFont typeface="Arial"/>
              <a:buChar char="•"/>
            </a:pPr>
            <a:r>
              <a:rPr lang="en-US" sz="8000" dirty="0">
                <a:latin typeface="Cambria"/>
                <a:ea typeface="Cambria"/>
                <a:cs typeface="Cambria"/>
                <a:sym typeface="Cambria"/>
              </a:rPr>
              <a:t>Foreground services are those services that are visible to the users.</a:t>
            </a:r>
            <a:endParaRPr sz="8000" dirty="0">
              <a:latin typeface="Cambria"/>
              <a:ea typeface="Cambria"/>
              <a:cs typeface="Cambria"/>
              <a:sym typeface="Cambria"/>
            </a:endParaRPr>
          </a:p>
          <a:p>
            <a:pPr marL="299085" lvl="0" indent="-286385" algn="just" rtl="0">
              <a:lnSpc>
                <a:spcPct val="100000"/>
              </a:lnSpc>
              <a:spcBef>
                <a:spcPts val="675"/>
              </a:spcBef>
              <a:spcAft>
                <a:spcPts val="0"/>
              </a:spcAft>
              <a:buClr>
                <a:schemeClr val="dk1"/>
              </a:buClr>
              <a:buSzPct val="100000"/>
              <a:buFont typeface="Arial"/>
              <a:buChar char="•"/>
            </a:pPr>
            <a:r>
              <a:rPr lang="en-US" sz="8000" dirty="0">
                <a:latin typeface="Cambria"/>
                <a:ea typeface="Cambria"/>
                <a:cs typeface="Cambria"/>
                <a:sym typeface="Cambria"/>
              </a:rPr>
              <a:t>The users can interact with them at ease and track what’s happening.</a:t>
            </a:r>
            <a:endParaRPr sz="8000" dirty="0">
              <a:latin typeface="Cambria"/>
              <a:ea typeface="Cambria"/>
              <a:cs typeface="Cambria"/>
              <a:sym typeface="Cambria"/>
            </a:endParaRPr>
          </a:p>
          <a:p>
            <a:pPr marL="228600" lvl="0" indent="-228600" algn="just" rtl="0">
              <a:lnSpc>
                <a:spcPct val="90000"/>
              </a:lnSpc>
              <a:spcBef>
                <a:spcPts val="1000"/>
              </a:spcBef>
              <a:spcAft>
                <a:spcPts val="0"/>
              </a:spcAft>
              <a:buClr>
                <a:schemeClr val="dk1"/>
              </a:buClr>
              <a:buSzPct val="100000"/>
              <a:buChar char="•"/>
            </a:pPr>
            <a:r>
              <a:rPr lang="en-US" sz="8000" dirty="0">
                <a:latin typeface="Cambria"/>
                <a:ea typeface="Cambria"/>
                <a:cs typeface="Cambria"/>
                <a:sym typeface="Cambria"/>
              </a:rPr>
              <a:t>These	services continue to run even when users are using other applications</a:t>
            </a:r>
            <a:endParaRPr dirty="0"/>
          </a:p>
          <a:p>
            <a:pPr marL="228600" lvl="0" indent="-228600" algn="just" rtl="0">
              <a:lnSpc>
                <a:spcPct val="90000"/>
              </a:lnSpc>
              <a:spcBef>
                <a:spcPts val="1000"/>
              </a:spcBef>
              <a:spcAft>
                <a:spcPts val="0"/>
              </a:spcAft>
              <a:buClr>
                <a:schemeClr val="dk1"/>
              </a:buClr>
              <a:buSzPct val="100000"/>
              <a:buChar char="•"/>
            </a:pPr>
            <a:r>
              <a:rPr lang="en-US" sz="8000" i="1" dirty="0">
                <a:latin typeface="Cambria"/>
                <a:ea typeface="Cambria"/>
                <a:cs typeface="Cambria"/>
                <a:sym typeface="Cambria"/>
              </a:rPr>
              <a:t>The perfect example of this is Music Player and Downloading.</a:t>
            </a:r>
            <a:endParaRPr sz="8000" dirty="0">
              <a:latin typeface="Cambria"/>
              <a:ea typeface="Cambria"/>
              <a:cs typeface="Cambria"/>
              <a:sym typeface="Cambria"/>
            </a:endParaRPr>
          </a:p>
          <a:p>
            <a:pPr marL="228600" lvl="0" indent="-184150" algn="l" rtl="0">
              <a:lnSpc>
                <a:spcPct val="90000"/>
              </a:lnSpc>
              <a:spcBef>
                <a:spcPts val="1000"/>
              </a:spcBef>
              <a:spcAft>
                <a:spcPts val="0"/>
              </a:spcAft>
              <a:buClr>
                <a:schemeClr val="dk1"/>
              </a:buClr>
              <a:buSzPct val="100000"/>
              <a:buNone/>
            </a:pPr>
            <a:endParaRPr dirty="0">
              <a:latin typeface="Calibri"/>
              <a:ea typeface="Calibri"/>
              <a:cs typeface="Calibri"/>
              <a:sym typeface="Calibri"/>
            </a:endParaRPr>
          </a:p>
          <a:p>
            <a:pPr marL="228600" lvl="0" indent="-184150" algn="l" rtl="0">
              <a:lnSpc>
                <a:spcPct val="90000"/>
              </a:lnSpc>
              <a:spcBef>
                <a:spcPts val="1000"/>
              </a:spcBef>
              <a:spcAft>
                <a:spcPts val="0"/>
              </a:spcAft>
              <a:buClr>
                <a:schemeClr val="dk1"/>
              </a:buClr>
              <a:buSzPct val="100000"/>
              <a:buNone/>
            </a:pPr>
            <a:endParaRPr dirty="0"/>
          </a:p>
        </p:txBody>
      </p:sp>
      <p:pic>
        <p:nvPicPr>
          <p:cNvPr id="224" name="Google Shape;224;p18"/>
          <p:cNvPicPr preferRelativeResize="0"/>
          <p:nvPr/>
        </p:nvPicPr>
        <p:blipFill rotWithShape="1">
          <a:blip r:embed="rId3">
            <a:alphaModFix/>
          </a:blip>
          <a:srcRect/>
          <a:stretch/>
        </p:blipFill>
        <p:spPr>
          <a:xfrm>
            <a:off x="8227943" y="1607370"/>
            <a:ext cx="3544957" cy="3481769"/>
          </a:xfrm>
          <a:prstGeom prst="rect">
            <a:avLst/>
          </a:prstGeom>
          <a:noFill/>
          <a:ln w="190500" cap="sq" cmpd="sng">
            <a:solidFill>
              <a:srgbClr val="C8C6BD"/>
            </a:solidFill>
            <a:prstDash val="solid"/>
            <a:miter lim="800000"/>
            <a:headEnd type="none" w="sm" len="sm"/>
            <a:tailEnd type="none" w="sm" len="sm"/>
          </a:ln>
          <a:effectLst>
            <a:outerShdw blurRad="254000" algn="bl" rotWithShape="0">
              <a:srgbClr val="000000">
                <a:alpha val="42745"/>
              </a:srgbClr>
            </a:outerShdw>
          </a:effectLst>
        </p:spPr>
      </p:pic>
      <p:pic>
        <p:nvPicPr>
          <p:cNvPr id="6" name="Picture 5"/>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Service – background services</a:t>
            </a:r>
            <a:endParaRPr sz="2400" b="1">
              <a:latin typeface="Cambria"/>
              <a:ea typeface="Cambria"/>
              <a:cs typeface="Cambria"/>
              <a:sym typeface="Cambria"/>
            </a:endParaRPr>
          </a:p>
        </p:txBody>
      </p:sp>
      <p:sp>
        <p:nvSpPr>
          <p:cNvPr id="231" name="Google Shape;231;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96215" marR="5080" lvl="0" indent="-179705" algn="just" rtl="0">
              <a:lnSpc>
                <a:spcPct val="140000"/>
              </a:lnSpc>
              <a:spcBef>
                <a:spcPts val="0"/>
              </a:spcBef>
              <a:spcAft>
                <a:spcPts val="0"/>
              </a:spcAft>
              <a:buClr>
                <a:schemeClr val="dk1"/>
              </a:buClr>
              <a:buSzPts val="2000"/>
              <a:buFont typeface="Arial"/>
              <a:buChar char="•"/>
            </a:pPr>
            <a:r>
              <a:rPr lang="en-US" sz="2000" dirty="0">
                <a:latin typeface="Cambria"/>
                <a:ea typeface="Cambria"/>
                <a:cs typeface="Cambria"/>
                <a:sym typeface="Cambria"/>
              </a:rPr>
              <a:t>These services run in the background, such that the user can’t see or access them.</a:t>
            </a:r>
            <a:endParaRPr dirty="0"/>
          </a:p>
          <a:p>
            <a:pPr marL="196215" lvl="0" indent="-179070" algn="just" rtl="0">
              <a:lnSpc>
                <a:spcPct val="100000"/>
              </a:lnSpc>
              <a:spcBef>
                <a:spcPts val="635"/>
              </a:spcBef>
              <a:spcAft>
                <a:spcPts val="0"/>
              </a:spcAft>
              <a:buClr>
                <a:schemeClr val="dk1"/>
              </a:buClr>
              <a:buSzPts val="2000"/>
              <a:buFont typeface="Arial"/>
              <a:buChar char="•"/>
            </a:pPr>
            <a:r>
              <a:rPr lang="en-US" sz="2000" dirty="0">
                <a:latin typeface="Cambria"/>
                <a:ea typeface="Cambria"/>
                <a:cs typeface="Cambria"/>
                <a:sym typeface="Cambria"/>
              </a:rPr>
              <a:t>These are the tasks that don’t need the user to know them.</a:t>
            </a:r>
            <a:endParaRPr dirty="0"/>
          </a:p>
          <a:p>
            <a:pPr marL="196215" lvl="0" indent="-179070" algn="just" rtl="0">
              <a:lnSpc>
                <a:spcPct val="100000"/>
              </a:lnSpc>
              <a:spcBef>
                <a:spcPts val="675"/>
              </a:spcBef>
              <a:spcAft>
                <a:spcPts val="0"/>
              </a:spcAft>
              <a:buClr>
                <a:srgbClr val="273138"/>
              </a:buClr>
              <a:buSzPts val="2000"/>
              <a:buFont typeface="Arial"/>
              <a:buChar char="•"/>
            </a:pPr>
            <a:r>
              <a:rPr lang="en-US" sz="2000" dirty="0">
                <a:solidFill>
                  <a:srgbClr val="273138"/>
                </a:solidFill>
                <a:latin typeface="Cambria"/>
                <a:ea typeface="Cambria"/>
                <a:cs typeface="Cambria"/>
                <a:sym typeface="Cambria"/>
              </a:rPr>
              <a:t>Background services do not require any user intervention.</a:t>
            </a:r>
            <a:endParaRPr dirty="0"/>
          </a:p>
          <a:p>
            <a:pPr marL="196215" marR="194310" lvl="0" indent="-179705" algn="just" rtl="0">
              <a:lnSpc>
                <a:spcPct val="140000"/>
              </a:lnSpc>
              <a:spcBef>
                <a:spcPts val="1035"/>
              </a:spcBef>
              <a:spcAft>
                <a:spcPts val="0"/>
              </a:spcAft>
              <a:buClr>
                <a:srgbClr val="273138"/>
              </a:buClr>
              <a:buSzPts val="2000"/>
              <a:buFont typeface="Arial"/>
              <a:buChar char="•"/>
            </a:pPr>
            <a:r>
              <a:rPr lang="en-US" sz="2000" dirty="0">
                <a:solidFill>
                  <a:srgbClr val="273138"/>
                </a:solidFill>
                <a:latin typeface="Cambria"/>
                <a:ea typeface="Cambria"/>
                <a:cs typeface="Cambria"/>
                <a:sym typeface="Cambria"/>
              </a:rPr>
              <a:t>These services do not notify the user about ongoing background tasks and users also cannot access them.</a:t>
            </a:r>
            <a:endParaRPr dirty="0"/>
          </a:p>
          <a:p>
            <a:pPr marL="196215" marR="274320" lvl="0" indent="-179705" algn="just" rtl="0">
              <a:lnSpc>
                <a:spcPct val="140000"/>
              </a:lnSpc>
              <a:spcBef>
                <a:spcPts val="994"/>
              </a:spcBef>
              <a:spcAft>
                <a:spcPts val="0"/>
              </a:spcAft>
              <a:buClr>
                <a:srgbClr val="273138"/>
              </a:buClr>
              <a:buSzPts val="2000"/>
              <a:buChar char="•"/>
            </a:pPr>
            <a:r>
              <a:rPr lang="en-US" sz="2000" dirty="0">
                <a:solidFill>
                  <a:srgbClr val="273138"/>
                </a:solidFill>
                <a:latin typeface="Cambria"/>
                <a:ea typeface="Cambria"/>
                <a:cs typeface="Cambria"/>
                <a:sym typeface="Cambria"/>
              </a:rPr>
              <a:t>The process like schedule syncing of data or storing of data fall under this service.</a:t>
            </a:r>
            <a:endParaRPr dirty="0"/>
          </a:p>
          <a:p>
            <a:pPr marL="228600" lvl="0" indent="-50800" algn="l" rtl="0">
              <a:lnSpc>
                <a:spcPct val="90000"/>
              </a:lnSpc>
              <a:spcBef>
                <a:spcPts val="1000"/>
              </a:spcBef>
              <a:spcAft>
                <a:spcPts val="0"/>
              </a:spcAft>
              <a:buClr>
                <a:schemeClr val="dk1"/>
              </a:buClr>
              <a:buSzPts val="2800"/>
              <a:buNone/>
            </a:pPr>
            <a:endParaRPr dirty="0"/>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0"/>
          <p:cNvSpPr txBox="1">
            <a:spLocks noGrp="1"/>
          </p:cNvSpPr>
          <p:nvPr>
            <p:ph type="title"/>
          </p:nvPr>
        </p:nvSpPr>
        <p:spPr>
          <a:xfrm>
            <a:off x="829994" y="365125"/>
            <a:ext cx="10523806" cy="133706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Service – background services</a:t>
            </a:r>
            <a:endParaRPr/>
          </a:p>
        </p:txBody>
      </p:sp>
      <p:sp>
        <p:nvSpPr>
          <p:cNvPr id="238" name="Google Shape;238;p20"/>
          <p:cNvSpPr txBox="1">
            <a:spLocks noGrp="1"/>
          </p:cNvSpPr>
          <p:nvPr>
            <p:ph type="body" idx="1"/>
          </p:nvPr>
        </p:nvSpPr>
        <p:spPr>
          <a:xfrm>
            <a:off x="422030" y="1579634"/>
            <a:ext cx="7399607" cy="5278366"/>
          </a:xfrm>
          <a:prstGeom prst="rect">
            <a:avLst/>
          </a:prstGeom>
          <a:noFill/>
          <a:ln>
            <a:noFill/>
          </a:ln>
        </p:spPr>
        <p:txBody>
          <a:bodyPr spcFirstLastPara="1" wrap="square" lIns="91425" tIns="45700" rIns="91425" bIns="45700" anchor="t" anchorCtr="0">
            <a:normAutofit fontScale="32500" lnSpcReduction="20000"/>
          </a:bodyPr>
          <a:lstStyle/>
          <a:p>
            <a:pPr marL="12700" lvl="0" indent="-12700" algn="l" rtl="0">
              <a:lnSpc>
                <a:spcPct val="100000"/>
              </a:lnSpc>
              <a:spcBef>
                <a:spcPts val="0"/>
              </a:spcBef>
              <a:spcAft>
                <a:spcPts val="0"/>
              </a:spcAft>
              <a:buClr>
                <a:srgbClr val="202124"/>
              </a:buClr>
              <a:buSzPct val="100000"/>
              <a:buChar char="•"/>
            </a:pPr>
            <a:r>
              <a:rPr lang="en-US" sz="6200">
                <a:solidFill>
                  <a:srgbClr val="202124"/>
                </a:solidFill>
                <a:latin typeface="Cambria"/>
                <a:ea typeface="Cambria"/>
                <a:cs typeface="Cambria"/>
                <a:sym typeface="Cambria"/>
              </a:rPr>
              <a:t>Background work falls into one of three primary categories:</a:t>
            </a:r>
            <a:endParaRPr sz="6200">
              <a:latin typeface="Cambria"/>
              <a:ea typeface="Cambria"/>
              <a:cs typeface="Cambria"/>
              <a:sym typeface="Cambria"/>
            </a:endParaRPr>
          </a:p>
          <a:p>
            <a:pPr marL="697230" lvl="0" indent="-193675" algn="l" rtl="0">
              <a:lnSpc>
                <a:spcPct val="100000"/>
              </a:lnSpc>
              <a:spcBef>
                <a:spcPts val="1000"/>
              </a:spcBef>
              <a:spcAft>
                <a:spcPts val="0"/>
              </a:spcAft>
              <a:buClr>
                <a:srgbClr val="202124"/>
              </a:buClr>
              <a:buSzPct val="100000"/>
              <a:buFont typeface="Arial"/>
              <a:buChar char="•"/>
            </a:pPr>
            <a:r>
              <a:rPr lang="en-US" sz="6200" b="1">
                <a:solidFill>
                  <a:srgbClr val="202124"/>
                </a:solidFill>
                <a:latin typeface="Cambria"/>
                <a:ea typeface="Cambria"/>
                <a:cs typeface="Cambria"/>
                <a:sym typeface="Cambria"/>
              </a:rPr>
              <a:t>Immediate:</a:t>
            </a:r>
            <a:endParaRPr sz="6200">
              <a:latin typeface="Cambria"/>
              <a:ea typeface="Cambria"/>
              <a:cs typeface="Cambria"/>
              <a:sym typeface="Cambria"/>
            </a:endParaRPr>
          </a:p>
          <a:p>
            <a:pPr marL="1037589" lvl="0" indent="-228599" algn="l" rtl="0">
              <a:lnSpc>
                <a:spcPct val="100000"/>
              </a:lnSpc>
              <a:spcBef>
                <a:spcPts val="500"/>
              </a:spcBef>
              <a:spcAft>
                <a:spcPts val="0"/>
              </a:spcAft>
              <a:buClr>
                <a:srgbClr val="202124"/>
              </a:buClr>
              <a:buSzPct val="100000"/>
              <a:buChar char="•"/>
            </a:pPr>
            <a:r>
              <a:rPr lang="en-US" sz="6200">
                <a:solidFill>
                  <a:srgbClr val="202124"/>
                </a:solidFill>
                <a:latin typeface="Cambria"/>
                <a:ea typeface="Cambria"/>
                <a:cs typeface="Cambria"/>
                <a:sym typeface="Cambria"/>
              </a:rPr>
              <a:t>Needs to execute right away and complete soon.</a:t>
            </a:r>
            <a:endParaRPr sz="6200">
              <a:latin typeface="Cambria"/>
              <a:ea typeface="Cambria"/>
              <a:cs typeface="Cambria"/>
              <a:sym typeface="Cambria"/>
            </a:endParaRPr>
          </a:p>
          <a:p>
            <a:pPr marL="697230" lvl="0" indent="-193675" algn="l" rtl="0">
              <a:lnSpc>
                <a:spcPct val="100000"/>
              </a:lnSpc>
              <a:spcBef>
                <a:spcPts val="500"/>
              </a:spcBef>
              <a:spcAft>
                <a:spcPts val="0"/>
              </a:spcAft>
              <a:buClr>
                <a:srgbClr val="202124"/>
              </a:buClr>
              <a:buSzPct val="100000"/>
              <a:buFont typeface="Arial"/>
              <a:buChar char="•"/>
            </a:pPr>
            <a:r>
              <a:rPr lang="en-US" sz="6200" b="1">
                <a:solidFill>
                  <a:srgbClr val="202124"/>
                </a:solidFill>
                <a:latin typeface="Cambria"/>
                <a:ea typeface="Cambria"/>
                <a:cs typeface="Cambria"/>
                <a:sym typeface="Cambria"/>
              </a:rPr>
              <a:t>Long Running:</a:t>
            </a:r>
            <a:endParaRPr sz="6200">
              <a:latin typeface="Cambria"/>
              <a:ea typeface="Cambria"/>
              <a:cs typeface="Cambria"/>
              <a:sym typeface="Cambria"/>
            </a:endParaRPr>
          </a:p>
          <a:p>
            <a:pPr marL="1037589" lvl="0" indent="-228599" algn="l" rtl="0">
              <a:lnSpc>
                <a:spcPct val="100000"/>
              </a:lnSpc>
              <a:spcBef>
                <a:spcPts val="500"/>
              </a:spcBef>
              <a:spcAft>
                <a:spcPts val="0"/>
              </a:spcAft>
              <a:buClr>
                <a:srgbClr val="202124"/>
              </a:buClr>
              <a:buSzPct val="100000"/>
              <a:buChar char="•"/>
            </a:pPr>
            <a:r>
              <a:rPr lang="en-US" sz="6200">
                <a:solidFill>
                  <a:srgbClr val="202124"/>
                </a:solidFill>
                <a:latin typeface="Cambria"/>
                <a:ea typeface="Cambria"/>
                <a:cs typeface="Cambria"/>
                <a:sym typeface="Cambria"/>
              </a:rPr>
              <a:t>May take some time to complete.</a:t>
            </a:r>
            <a:endParaRPr sz="6200">
              <a:latin typeface="Cambria"/>
              <a:ea typeface="Cambria"/>
              <a:cs typeface="Cambria"/>
              <a:sym typeface="Cambria"/>
            </a:endParaRPr>
          </a:p>
          <a:p>
            <a:pPr marL="697230" lvl="0" indent="-193675" algn="l" rtl="0">
              <a:lnSpc>
                <a:spcPct val="100000"/>
              </a:lnSpc>
              <a:spcBef>
                <a:spcPts val="500"/>
              </a:spcBef>
              <a:spcAft>
                <a:spcPts val="0"/>
              </a:spcAft>
              <a:buClr>
                <a:srgbClr val="202124"/>
              </a:buClr>
              <a:buSzPct val="100000"/>
              <a:buFont typeface="Arial"/>
              <a:buChar char="•"/>
            </a:pPr>
            <a:r>
              <a:rPr lang="en-US" sz="6200" b="1">
                <a:solidFill>
                  <a:srgbClr val="202124"/>
                </a:solidFill>
                <a:latin typeface="Cambria"/>
                <a:ea typeface="Cambria"/>
                <a:cs typeface="Cambria"/>
                <a:sym typeface="Cambria"/>
              </a:rPr>
              <a:t>Deferrable:</a:t>
            </a:r>
            <a:endParaRPr sz="6200">
              <a:latin typeface="Cambria"/>
              <a:ea typeface="Cambria"/>
              <a:cs typeface="Cambria"/>
              <a:sym typeface="Cambria"/>
            </a:endParaRPr>
          </a:p>
          <a:p>
            <a:pPr marL="1037589" lvl="0" indent="-228599" algn="l" rtl="0">
              <a:lnSpc>
                <a:spcPct val="100000"/>
              </a:lnSpc>
              <a:spcBef>
                <a:spcPts val="500"/>
              </a:spcBef>
              <a:spcAft>
                <a:spcPts val="0"/>
              </a:spcAft>
              <a:buClr>
                <a:srgbClr val="202124"/>
              </a:buClr>
              <a:buSzPct val="100000"/>
              <a:buChar char="•"/>
            </a:pPr>
            <a:r>
              <a:rPr lang="en-US" sz="6200">
                <a:solidFill>
                  <a:srgbClr val="202124"/>
                </a:solidFill>
                <a:latin typeface="Cambria"/>
                <a:ea typeface="Cambria"/>
                <a:cs typeface="Cambria"/>
                <a:sym typeface="Cambria"/>
              </a:rPr>
              <a:t>Does not need to run right away</a:t>
            </a:r>
            <a:endParaRPr/>
          </a:p>
          <a:p>
            <a:pPr marL="1037589" lvl="0" indent="-100647" algn="l" rtl="0">
              <a:lnSpc>
                <a:spcPct val="100000"/>
              </a:lnSpc>
              <a:spcBef>
                <a:spcPts val="500"/>
              </a:spcBef>
              <a:spcAft>
                <a:spcPts val="0"/>
              </a:spcAft>
              <a:buClr>
                <a:schemeClr val="dk1"/>
              </a:buClr>
              <a:buSzPct val="100000"/>
              <a:buNone/>
            </a:pPr>
            <a:endParaRPr sz="6200">
              <a:latin typeface="Cambria"/>
              <a:ea typeface="Cambria"/>
              <a:cs typeface="Cambria"/>
              <a:sym typeface="Cambria"/>
            </a:endParaRPr>
          </a:p>
          <a:p>
            <a:pPr marL="228600" lvl="0" indent="-228600" algn="l" rtl="0">
              <a:lnSpc>
                <a:spcPct val="100000"/>
              </a:lnSpc>
              <a:spcBef>
                <a:spcPts val="500"/>
              </a:spcBef>
              <a:spcAft>
                <a:spcPts val="0"/>
              </a:spcAft>
              <a:buClr>
                <a:srgbClr val="202124"/>
              </a:buClr>
              <a:buSzPct val="100000"/>
              <a:buChar char="•"/>
            </a:pPr>
            <a:r>
              <a:rPr lang="en-US" sz="6200">
                <a:solidFill>
                  <a:srgbClr val="202124"/>
                </a:solidFill>
                <a:latin typeface="Cambria"/>
                <a:ea typeface="Cambria"/>
                <a:cs typeface="Cambria"/>
                <a:sym typeface="Cambria"/>
              </a:rPr>
              <a:t>Likewise, background work in each of these three categories can be either persistent or impersistent:</a:t>
            </a:r>
            <a:endParaRPr sz="6200">
              <a:latin typeface="Cambria"/>
              <a:ea typeface="Cambria"/>
              <a:cs typeface="Cambria"/>
              <a:sym typeface="Cambria"/>
            </a:endParaRPr>
          </a:p>
          <a:p>
            <a:pPr marL="1154430" lvl="1" indent="-193675" algn="l" rtl="0">
              <a:lnSpc>
                <a:spcPct val="100000"/>
              </a:lnSpc>
              <a:spcBef>
                <a:spcPts val="500"/>
              </a:spcBef>
              <a:spcAft>
                <a:spcPts val="0"/>
              </a:spcAft>
              <a:buClr>
                <a:srgbClr val="202124"/>
              </a:buClr>
              <a:buSzPct val="100000"/>
              <a:buFont typeface="Arial"/>
              <a:buChar char="•"/>
            </a:pPr>
            <a:r>
              <a:rPr lang="en-US" sz="6200" b="1">
                <a:solidFill>
                  <a:srgbClr val="202124"/>
                </a:solidFill>
                <a:latin typeface="Cambria"/>
                <a:ea typeface="Cambria"/>
                <a:cs typeface="Cambria"/>
                <a:sym typeface="Cambria"/>
              </a:rPr>
              <a:t>Persistent work</a:t>
            </a:r>
            <a:r>
              <a:rPr lang="en-US" sz="6200">
                <a:solidFill>
                  <a:srgbClr val="202124"/>
                </a:solidFill>
                <a:latin typeface="Cambria"/>
                <a:ea typeface="Cambria"/>
                <a:cs typeface="Cambria"/>
                <a:sym typeface="Cambria"/>
              </a:rPr>
              <a:t>:</a:t>
            </a:r>
            <a:endParaRPr sz="6200">
              <a:latin typeface="Cambria"/>
              <a:ea typeface="Cambria"/>
              <a:cs typeface="Cambria"/>
              <a:sym typeface="Cambria"/>
            </a:endParaRPr>
          </a:p>
          <a:p>
            <a:pPr marL="1546860" lvl="0" indent="-228600" algn="l" rtl="0">
              <a:lnSpc>
                <a:spcPct val="100000"/>
              </a:lnSpc>
              <a:spcBef>
                <a:spcPts val="500"/>
              </a:spcBef>
              <a:spcAft>
                <a:spcPts val="0"/>
              </a:spcAft>
              <a:buClr>
                <a:srgbClr val="202124"/>
              </a:buClr>
              <a:buSzPct val="100000"/>
              <a:buChar char="•"/>
            </a:pPr>
            <a:r>
              <a:rPr lang="en-US" sz="6200">
                <a:solidFill>
                  <a:srgbClr val="202124"/>
                </a:solidFill>
                <a:latin typeface="Cambria"/>
                <a:ea typeface="Cambria"/>
                <a:cs typeface="Cambria"/>
                <a:sym typeface="Cambria"/>
              </a:rPr>
              <a:t>Remains scheduled through app restarts and device reboots.</a:t>
            </a:r>
            <a:endParaRPr sz="6200">
              <a:latin typeface="Cambria"/>
              <a:ea typeface="Cambria"/>
              <a:cs typeface="Cambria"/>
              <a:sym typeface="Cambria"/>
            </a:endParaRPr>
          </a:p>
          <a:p>
            <a:pPr marL="1154430" lvl="1" indent="-193675" algn="l" rtl="0">
              <a:lnSpc>
                <a:spcPct val="100000"/>
              </a:lnSpc>
              <a:spcBef>
                <a:spcPts val="500"/>
              </a:spcBef>
              <a:spcAft>
                <a:spcPts val="0"/>
              </a:spcAft>
              <a:buClr>
                <a:srgbClr val="202124"/>
              </a:buClr>
              <a:buSzPct val="100000"/>
              <a:buFont typeface="Arial"/>
              <a:buChar char="•"/>
            </a:pPr>
            <a:r>
              <a:rPr lang="en-US" sz="6200" b="1">
                <a:solidFill>
                  <a:srgbClr val="202124"/>
                </a:solidFill>
                <a:latin typeface="Cambria"/>
                <a:ea typeface="Cambria"/>
                <a:cs typeface="Cambria"/>
                <a:sym typeface="Cambria"/>
              </a:rPr>
              <a:t>Impersistent work:</a:t>
            </a:r>
            <a:endParaRPr sz="6200">
              <a:latin typeface="Cambria"/>
              <a:ea typeface="Cambria"/>
              <a:cs typeface="Cambria"/>
              <a:sym typeface="Cambria"/>
            </a:endParaRPr>
          </a:p>
          <a:p>
            <a:pPr marL="1598295" lvl="0" indent="-228600" algn="l" rtl="0">
              <a:lnSpc>
                <a:spcPct val="100000"/>
              </a:lnSpc>
              <a:spcBef>
                <a:spcPts val="500"/>
              </a:spcBef>
              <a:spcAft>
                <a:spcPts val="0"/>
              </a:spcAft>
              <a:buClr>
                <a:srgbClr val="202124"/>
              </a:buClr>
              <a:buSzPct val="100000"/>
              <a:buChar char="•"/>
            </a:pPr>
            <a:r>
              <a:rPr lang="en-US" sz="6200">
                <a:solidFill>
                  <a:srgbClr val="202124"/>
                </a:solidFill>
                <a:latin typeface="Cambria"/>
                <a:ea typeface="Cambria"/>
                <a:cs typeface="Cambria"/>
                <a:sym typeface="Cambria"/>
              </a:rPr>
              <a:t>No longer scheduled after the process ends.</a:t>
            </a:r>
            <a:endParaRPr sz="6200">
              <a:latin typeface="Cambria"/>
              <a:ea typeface="Cambria"/>
              <a:cs typeface="Cambria"/>
              <a:sym typeface="Cambria"/>
            </a:endParaRPr>
          </a:p>
          <a:p>
            <a:pPr marL="228600" lvl="0" indent="-170815" algn="l" rtl="0">
              <a:lnSpc>
                <a:spcPct val="90000"/>
              </a:lnSpc>
              <a:spcBef>
                <a:spcPts val="1000"/>
              </a:spcBef>
              <a:spcAft>
                <a:spcPts val="0"/>
              </a:spcAft>
              <a:buClr>
                <a:schemeClr val="dk1"/>
              </a:buClr>
              <a:buSzPct val="100000"/>
              <a:buNone/>
            </a:pPr>
            <a:endParaRPr/>
          </a:p>
        </p:txBody>
      </p:sp>
      <p:pic>
        <p:nvPicPr>
          <p:cNvPr id="239" name="Google Shape;239;p20"/>
          <p:cNvPicPr preferRelativeResize="0"/>
          <p:nvPr/>
        </p:nvPicPr>
        <p:blipFill rotWithShape="1">
          <a:blip r:embed="rId3">
            <a:alphaModFix/>
          </a:blip>
          <a:srcRect/>
          <a:stretch/>
        </p:blipFill>
        <p:spPr>
          <a:xfrm>
            <a:off x="8243668" y="1033658"/>
            <a:ext cx="3756074" cy="3369444"/>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6" name="Picture 5"/>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Service – background services</a:t>
            </a:r>
            <a:endParaRPr/>
          </a:p>
        </p:txBody>
      </p:sp>
      <p:sp>
        <p:nvSpPr>
          <p:cNvPr id="246" name="Google Shape;246;p21"/>
          <p:cNvSpPr txBox="1">
            <a:spLocks noGrp="1"/>
          </p:cNvSpPr>
          <p:nvPr>
            <p:ph type="body" idx="1"/>
          </p:nvPr>
        </p:nvSpPr>
        <p:spPr>
          <a:xfrm>
            <a:off x="1451579" y="2015732"/>
            <a:ext cx="9603275" cy="3907990"/>
          </a:xfrm>
          <a:prstGeom prst="rect">
            <a:avLst/>
          </a:prstGeom>
          <a:noFill/>
          <a:ln>
            <a:noFill/>
          </a:ln>
        </p:spPr>
        <p:txBody>
          <a:bodyPr spcFirstLastPara="1" wrap="square" lIns="91425" tIns="45700" rIns="91425" bIns="45700" anchor="t" anchorCtr="0">
            <a:normAutofit lnSpcReduction="10000"/>
          </a:bodyPr>
          <a:lstStyle/>
          <a:p>
            <a:pPr marL="65404" marR="28575" lvl="0" indent="0" algn="just" rtl="0">
              <a:lnSpc>
                <a:spcPct val="137272"/>
              </a:lnSpc>
              <a:spcBef>
                <a:spcPts val="0"/>
              </a:spcBef>
              <a:spcAft>
                <a:spcPts val="0"/>
              </a:spcAft>
              <a:buClr>
                <a:schemeClr val="dk1"/>
              </a:buClr>
              <a:buSzPts val="2200"/>
              <a:buNone/>
            </a:pPr>
            <a:r>
              <a:rPr lang="en-US" sz="2200" b="1" u="sng" dirty="0">
                <a:latin typeface="Calibri"/>
                <a:ea typeface="Calibri"/>
                <a:cs typeface="Calibri"/>
                <a:sym typeface="Calibri"/>
              </a:rPr>
              <a:t>Immediate Working</a:t>
            </a:r>
            <a:endParaRPr dirty="0"/>
          </a:p>
          <a:p>
            <a:pPr marL="240029" marR="28575" lvl="0" indent="-174625" algn="just" rtl="0">
              <a:lnSpc>
                <a:spcPct val="151000"/>
              </a:lnSpc>
              <a:spcBef>
                <a:spcPts val="480"/>
              </a:spcBef>
              <a:spcAft>
                <a:spcPts val="0"/>
              </a:spcAft>
              <a:buClr>
                <a:schemeClr val="dk1"/>
              </a:buClr>
              <a:buSzPts val="2000"/>
              <a:buFont typeface="Arial"/>
              <a:buChar char="•"/>
            </a:pPr>
            <a:r>
              <a:rPr lang="en-US" sz="2000" dirty="0">
                <a:latin typeface="Cambria"/>
                <a:ea typeface="Cambria"/>
                <a:cs typeface="Cambria"/>
                <a:sym typeface="Cambria"/>
              </a:rPr>
              <a:t>Immediate work includes tasks that must be completed right away. These are tasks that are important to the user or that you cannot otherwise schedule for later execution. They are significant enough  that they may need to be scheduled for immediate execution even if  the app is closed or the device restarted.</a:t>
            </a:r>
            <a:endParaRPr sz="2000" dirty="0">
              <a:latin typeface="Cambria"/>
              <a:ea typeface="Cambria"/>
              <a:cs typeface="Cambria"/>
              <a:sym typeface="Cambria"/>
            </a:endParaRPr>
          </a:p>
          <a:p>
            <a:pPr marL="518159" marR="5080" lvl="0" indent="-505459" algn="just" rtl="0">
              <a:lnSpc>
                <a:spcPct val="151000"/>
              </a:lnSpc>
              <a:spcBef>
                <a:spcPts val="1045"/>
              </a:spcBef>
              <a:spcAft>
                <a:spcPts val="0"/>
              </a:spcAft>
              <a:buClr>
                <a:schemeClr val="dk1"/>
              </a:buClr>
              <a:buSzPts val="2000"/>
              <a:buChar char="•"/>
            </a:pPr>
            <a:r>
              <a:rPr lang="en-US" sz="2000" dirty="0">
                <a:latin typeface="Cambria"/>
                <a:ea typeface="Cambria"/>
                <a:cs typeface="Cambria"/>
                <a:sym typeface="Cambria"/>
              </a:rPr>
              <a:t>A data source must be used to load data into an app. Making such a request on the main thread, on the other hand, will block it and cause UI </a:t>
            </a:r>
            <a:r>
              <a:rPr lang="en-US" sz="2000" dirty="0" err="1">
                <a:latin typeface="Cambria"/>
                <a:ea typeface="Cambria"/>
                <a:cs typeface="Cambria"/>
                <a:sym typeface="Cambria"/>
              </a:rPr>
              <a:t>jank</a:t>
            </a:r>
            <a:r>
              <a:rPr lang="en-US" sz="2000" dirty="0">
                <a:latin typeface="Cambria"/>
                <a:ea typeface="Cambria"/>
                <a:cs typeface="Cambria"/>
                <a:sym typeface="Cambria"/>
              </a:rPr>
              <a:t>. Instead, the app executes the request in a coroutine outside of the main thread.</a:t>
            </a:r>
            <a:endParaRPr sz="2000" dirty="0">
              <a:latin typeface="Cambria"/>
              <a:ea typeface="Cambria"/>
              <a:cs typeface="Cambria"/>
              <a:sym typeface="Cambria"/>
            </a:endParaRPr>
          </a:p>
          <a:p>
            <a:pPr marL="228600" lvl="0" indent="-50800" algn="l" rtl="0">
              <a:lnSpc>
                <a:spcPct val="90000"/>
              </a:lnSpc>
              <a:spcBef>
                <a:spcPts val="1000"/>
              </a:spcBef>
              <a:spcAft>
                <a:spcPts val="0"/>
              </a:spcAft>
              <a:buClr>
                <a:schemeClr val="dk1"/>
              </a:buClr>
              <a:buSzPts val="2800"/>
              <a:buNone/>
            </a:pPr>
            <a:endParaRPr dirty="0"/>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Service – background services</a:t>
            </a:r>
            <a:endParaRPr/>
          </a:p>
        </p:txBody>
      </p:sp>
      <p:sp>
        <p:nvSpPr>
          <p:cNvPr id="253" name="Google Shape;253;p22"/>
          <p:cNvSpPr txBox="1">
            <a:spLocks noGrp="1"/>
          </p:cNvSpPr>
          <p:nvPr>
            <p:ph type="body" idx="1"/>
          </p:nvPr>
        </p:nvSpPr>
        <p:spPr>
          <a:xfrm>
            <a:off x="1451579" y="2015732"/>
            <a:ext cx="9603275" cy="4106772"/>
          </a:xfrm>
          <a:prstGeom prst="rect">
            <a:avLst/>
          </a:prstGeom>
          <a:noFill/>
          <a:ln>
            <a:noFill/>
          </a:ln>
        </p:spPr>
        <p:txBody>
          <a:bodyPr spcFirstLastPara="1" wrap="square" lIns="91425" tIns="45700" rIns="91425" bIns="45700" anchor="t" anchorCtr="0">
            <a:normAutofit fontScale="92500"/>
          </a:bodyPr>
          <a:lstStyle/>
          <a:p>
            <a:pPr marL="65404" marR="28575" lvl="0" indent="0" algn="just" rtl="0">
              <a:lnSpc>
                <a:spcPct val="107857"/>
              </a:lnSpc>
              <a:spcBef>
                <a:spcPts val="0"/>
              </a:spcBef>
              <a:spcAft>
                <a:spcPts val="0"/>
              </a:spcAft>
              <a:buClr>
                <a:schemeClr val="dk1"/>
              </a:buClr>
              <a:buSzPts val="2800"/>
              <a:buNone/>
            </a:pPr>
            <a:r>
              <a:rPr lang="en-US" b="1" u="sng" dirty="0">
                <a:latin typeface="Calibri"/>
                <a:ea typeface="Calibri"/>
                <a:cs typeface="Calibri"/>
                <a:sym typeface="Calibri"/>
              </a:rPr>
              <a:t>Long  Running Work</a:t>
            </a:r>
            <a:endParaRPr dirty="0"/>
          </a:p>
          <a:p>
            <a:pPr marL="240029" marR="177800" lvl="0" indent="-174625" algn="just" rtl="0">
              <a:lnSpc>
                <a:spcPct val="137272"/>
              </a:lnSpc>
              <a:spcBef>
                <a:spcPts val="480"/>
              </a:spcBef>
              <a:spcAft>
                <a:spcPts val="0"/>
              </a:spcAft>
              <a:buClr>
                <a:schemeClr val="dk1"/>
              </a:buClr>
              <a:buSzPts val="2200"/>
              <a:buFont typeface="Arial"/>
              <a:buChar char="•"/>
            </a:pPr>
            <a:r>
              <a:rPr lang="en-US" sz="2200" dirty="0">
                <a:latin typeface="Cambria"/>
                <a:ea typeface="Cambria"/>
                <a:cs typeface="Cambria"/>
                <a:sym typeface="Cambria"/>
              </a:rPr>
              <a:t>A long running task is a task that requires more than 30 seconds to complete and involves a large amount of data.</a:t>
            </a:r>
            <a:endParaRPr sz="2200" dirty="0">
              <a:latin typeface="Cambria"/>
              <a:ea typeface="Cambria"/>
              <a:cs typeface="Cambria"/>
              <a:sym typeface="Cambria"/>
            </a:endParaRPr>
          </a:p>
          <a:p>
            <a:pPr marL="240029" marR="261620" lvl="0" indent="-174625" algn="just" rtl="0">
              <a:lnSpc>
                <a:spcPct val="137272"/>
              </a:lnSpc>
              <a:spcBef>
                <a:spcPts val="1010"/>
              </a:spcBef>
              <a:spcAft>
                <a:spcPts val="0"/>
              </a:spcAft>
              <a:buClr>
                <a:schemeClr val="dk1"/>
              </a:buClr>
              <a:buSzPts val="2200"/>
              <a:buFont typeface="Arial"/>
              <a:buChar char="•"/>
            </a:pPr>
            <a:r>
              <a:rPr lang="en-US" sz="2200" dirty="0">
                <a:latin typeface="Cambria"/>
                <a:ea typeface="Cambria"/>
                <a:cs typeface="Cambria"/>
                <a:sym typeface="Cambria"/>
              </a:rPr>
              <a:t>Work is </a:t>
            </a:r>
            <a:r>
              <a:rPr lang="en-US" sz="2200" u="sng" dirty="0">
                <a:solidFill>
                  <a:srgbClr val="0563C1"/>
                </a:solidFill>
                <a:latin typeface="Cambria"/>
                <a:ea typeface="Cambria"/>
                <a:cs typeface="Cambria"/>
                <a:sym typeface="Cambria"/>
                <a:hlinkClick r:id="rId3">
                  <a:extLst>
                    <a:ext uri="{A12FA001-AC4F-418D-AE19-62706E023703}">
                      <ahyp:hlinkClr xmlns:ahyp="http://schemas.microsoft.com/office/drawing/2018/hyperlinkcolor" val="tx"/>
                    </a:ext>
                  </a:extLst>
                </a:hlinkClick>
              </a:rPr>
              <a:t>long running</a:t>
            </a:r>
            <a:r>
              <a:rPr lang="en-US" sz="2200" dirty="0">
                <a:solidFill>
                  <a:srgbClr val="0563C1"/>
                </a:solidFill>
                <a:latin typeface="Cambria"/>
                <a:ea typeface="Cambria"/>
                <a:cs typeface="Cambria"/>
                <a:sym typeface="Cambria"/>
              </a:rPr>
              <a:t> </a:t>
            </a:r>
            <a:r>
              <a:rPr lang="en-US" sz="2200" dirty="0">
                <a:latin typeface="Cambria"/>
                <a:ea typeface="Cambria"/>
                <a:cs typeface="Cambria"/>
                <a:sym typeface="Cambria"/>
              </a:rPr>
              <a:t>if it is likely to take more than ten minutes to 	complete.</a:t>
            </a:r>
            <a:endParaRPr sz="2200" dirty="0">
              <a:latin typeface="Cambria"/>
              <a:ea typeface="Cambria"/>
              <a:cs typeface="Cambria"/>
              <a:sym typeface="Cambria"/>
            </a:endParaRPr>
          </a:p>
          <a:p>
            <a:pPr marL="240029" marR="3162935" lvl="0" indent="-174625" algn="just" rtl="0">
              <a:lnSpc>
                <a:spcPct val="182727"/>
              </a:lnSpc>
              <a:spcBef>
                <a:spcPts val="209"/>
              </a:spcBef>
              <a:spcAft>
                <a:spcPts val="0"/>
              </a:spcAft>
              <a:buClr>
                <a:schemeClr val="dk1"/>
              </a:buClr>
              <a:buSzPts val="2200"/>
              <a:buFont typeface="Arial"/>
              <a:buChar char="•"/>
            </a:pPr>
            <a:r>
              <a:rPr lang="en-US" sz="2200" dirty="0">
                <a:latin typeface="Cambria"/>
                <a:ea typeface="Cambria"/>
                <a:cs typeface="Cambria"/>
                <a:sym typeface="Cambria"/>
              </a:rPr>
              <a:t>It allows you to handle such tasks using a long 	Eg:</a:t>
            </a:r>
            <a:endParaRPr sz="2200" dirty="0">
              <a:latin typeface="Cambria"/>
              <a:ea typeface="Cambria"/>
              <a:cs typeface="Cambria"/>
              <a:sym typeface="Cambria"/>
            </a:endParaRPr>
          </a:p>
          <a:p>
            <a:pPr marL="815975" marR="5080" lvl="0" indent="-803275" algn="just" rtl="0">
              <a:lnSpc>
                <a:spcPct val="137272"/>
              </a:lnSpc>
              <a:spcBef>
                <a:spcPts val="805"/>
              </a:spcBef>
              <a:spcAft>
                <a:spcPts val="0"/>
              </a:spcAft>
              <a:buClr>
                <a:schemeClr val="dk1"/>
              </a:buClr>
              <a:buSzPts val="2200"/>
              <a:buChar char="•"/>
            </a:pPr>
            <a:r>
              <a:rPr lang="en-US" sz="2200" dirty="0">
                <a:latin typeface="Cambria"/>
                <a:ea typeface="Cambria"/>
                <a:cs typeface="Cambria"/>
                <a:sym typeface="Cambria"/>
              </a:rPr>
              <a:t>An apps needs to download a large file which you cannot junk it creates a long running work and computing the download.</a:t>
            </a:r>
            <a:endParaRPr sz="2200" dirty="0">
              <a:latin typeface="Cambria"/>
              <a:ea typeface="Cambria"/>
              <a:cs typeface="Cambria"/>
              <a:sym typeface="Cambria"/>
            </a:endParaRPr>
          </a:p>
          <a:p>
            <a:pPr marL="228600" lvl="0" indent="-88900" algn="just" rtl="0">
              <a:lnSpc>
                <a:spcPct val="90000"/>
              </a:lnSpc>
              <a:spcBef>
                <a:spcPts val="1000"/>
              </a:spcBef>
              <a:spcAft>
                <a:spcPts val="0"/>
              </a:spcAft>
              <a:buClr>
                <a:schemeClr val="dk1"/>
              </a:buClr>
              <a:buSzPts val="2200"/>
              <a:buNone/>
            </a:pPr>
            <a:endParaRPr sz="2200" dirty="0">
              <a:latin typeface="Cambria"/>
              <a:ea typeface="Cambria"/>
              <a:cs typeface="Cambria"/>
              <a:sym typeface="Cambria"/>
            </a:endParaRPr>
          </a:p>
        </p:txBody>
      </p:sp>
      <p:pic>
        <p:nvPicPr>
          <p:cNvPr id="5" name="Picture 4"/>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3"/>
          <p:cNvSpPr txBox="1">
            <a:spLocks noGrp="1"/>
          </p:cNvSpPr>
          <p:nvPr>
            <p:ph type="title"/>
          </p:nvPr>
        </p:nvSpPr>
        <p:spPr>
          <a:xfrm>
            <a:off x="872196" y="365125"/>
            <a:ext cx="10481603" cy="140740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Service - Bound Services</a:t>
            </a:r>
            <a:endParaRPr sz="2400" b="1">
              <a:latin typeface="Cambria"/>
              <a:ea typeface="Cambria"/>
              <a:cs typeface="Cambria"/>
              <a:sym typeface="Cambria"/>
            </a:endParaRPr>
          </a:p>
        </p:txBody>
      </p:sp>
      <p:sp>
        <p:nvSpPr>
          <p:cNvPr id="260" name="Google Shape;260;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dirty="0">
                <a:latin typeface="Cambria"/>
                <a:ea typeface="Cambria"/>
                <a:cs typeface="Cambria"/>
                <a:sym typeface="Cambria"/>
              </a:rPr>
              <a:t>Bound service runs as long as some other </a:t>
            </a:r>
            <a:r>
              <a:rPr lang="en-US" sz="2000" i="1" u="sng" dirty="0">
                <a:solidFill>
                  <a:srgbClr val="0563C1"/>
                </a:solidFill>
                <a:latin typeface="Cambria"/>
                <a:ea typeface="Cambria"/>
                <a:cs typeface="Cambria"/>
                <a:sym typeface="Cambria"/>
                <a:hlinkClick r:id="rId3">
                  <a:extLst>
                    <a:ext uri="{A12FA001-AC4F-418D-AE19-62706E023703}">
                      <ahyp:hlinkClr xmlns:ahyp="http://schemas.microsoft.com/office/drawing/2018/hyperlinkcolor" val="tx"/>
                    </a:ext>
                  </a:extLst>
                </a:hlinkClick>
              </a:rPr>
              <a:t>application component</a:t>
            </a:r>
            <a:r>
              <a:rPr lang="en-US" sz="2000" i="1" dirty="0">
                <a:solidFill>
                  <a:srgbClr val="0563C1"/>
                </a:solidFill>
                <a:latin typeface="Cambria"/>
                <a:ea typeface="Cambria"/>
                <a:cs typeface="Cambria"/>
                <a:sym typeface="Cambria"/>
              </a:rPr>
              <a:t> </a:t>
            </a:r>
            <a:r>
              <a:rPr lang="en-US" sz="2000" dirty="0">
                <a:latin typeface="Cambria"/>
                <a:ea typeface="Cambria"/>
                <a:cs typeface="Cambria"/>
                <a:sym typeface="Cambria"/>
              </a:rPr>
              <a:t>is bound to it. Many components can bind to one service at a time, but once they all unbind, the service will destroy.</a:t>
            </a:r>
            <a:endParaRPr sz="2000" dirty="0">
              <a:latin typeface="Cambria"/>
              <a:ea typeface="Cambria"/>
              <a:cs typeface="Cambria"/>
              <a:sym typeface="Cambria"/>
            </a:endParaRPr>
          </a:p>
          <a:p>
            <a:pPr marL="228600" lvl="0" indent="-50800" algn="l" rtl="0">
              <a:lnSpc>
                <a:spcPct val="90000"/>
              </a:lnSpc>
              <a:spcBef>
                <a:spcPts val="1000"/>
              </a:spcBef>
              <a:spcAft>
                <a:spcPts val="0"/>
              </a:spcAft>
              <a:buClr>
                <a:schemeClr val="dk1"/>
              </a:buClr>
              <a:buSzPts val="2800"/>
              <a:buNone/>
            </a:pPr>
            <a:endParaRPr dirty="0"/>
          </a:p>
        </p:txBody>
      </p:sp>
      <p:pic>
        <p:nvPicPr>
          <p:cNvPr id="5" name="Picture 4"/>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Service</a:t>
            </a:r>
            <a:endParaRPr sz="2400" b="1">
              <a:latin typeface="Cambria"/>
              <a:ea typeface="Cambria"/>
              <a:cs typeface="Cambria"/>
              <a:sym typeface="Cambria"/>
            </a:endParaRPr>
          </a:p>
        </p:txBody>
      </p:sp>
      <p:sp>
        <p:nvSpPr>
          <p:cNvPr id="267" name="Google Shape;267;p24"/>
          <p:cNvSpPr txBox="1">
            <a:spLocks noGrp="1"/>
          </p:cNvSpPr>
          <p:nvPr>
            <p:ph type="body" idx="1"/>
          </p:nvPr>
        </p:nvSpPr>
        <p:spPr>
          <a:xfrm>
            <a:off x="1294362" y="1690688"/>
            <a:ext cx="9603275" cy="4146529"/>
          </a:xfrm>
          <a:prstGeom prst="rect">
            <a:avLst/>
          </a:prstGeom>
          <a:noFill/>
          <a:ln>
            <a:noFill/>
          </a:ln>
        </p:spPr>
        <p:txBody>
          <a:bodyPr spcFirstLastPara="1" wrap="square" lIns="91425" tIns="45700" rIns="91425" bIns="45700" anchor="t" anchorCtr="0">
            <a:normAutofit fontScale="92500"/>
          </a:bodyPr>
          <a:lstStyle/>
          <a:p>
            <a:pPr marL="332105" marR="5080" lvl="0" indent="-174624" algn="l" rtl="0">
              <a:lnSpc>
                <a:spcPct val="137272"/>
              </a:lnSpc>
              <a:spcBef>
                <a:spcPts val="0"/>
              </a:spcBef>
              <a:spcAft>
                <a:spcPts val="0"/>
              </a:spcAft>
              <a:buClr>
                <a:srgbClr val="444444"/>
              </a:buClr>
              <a:buSzPct val="100000"/>
              <a:buFont typeface="Arial"/>
              <a:buChar char="•"/>
            </a:pPr>
            <a:r>
              <a:rPr lang="en-US" sz="2200">
                <a:solidFill>
                  <a:srgbClr val="444444"/>
                </a:solidFill>
                <a:latin typeface="Cambria"/>
                <a:ea typeface="Cambria"/>
                <a:cs typeface="Cambria"/>
                <a:sym typeface="Cambria"/>
              </a:rPr>
              <a:t>Android services life cycle can have two forms of services and they  follow two paths, that are </a:t>
            </a:r>
            <a:endParaRPr sz="2200">
              <a:latin typeface="Cambria"/>
              <a:ea typeface="Cambria"/>
              <a:cs typeface="Cambria"/>
              <a:sym typeface="Cambria"/>
            </a:endParaRPr>
          </a:p>
          <a:p>
            <a:pPr marL="332740" lvl="0" indent="-320040" algn="l" rtl="0">
              <a:lnSpc>
                <a:spcPct val="100000"/>
              </a:lnSpc>
              <a:spcBef>
                <a:spcPts val="625"/>
              </a:spcBef>
              <a:spcAft>
                <a:spcPts val="0"/>
              </a:spcAft>
              <a:buClr>
                <a:srgbClr val="444444"/>
              </a:buClr>
              <a:buSzPct val="100000"/>
              <a:buAutoNum type="arabicPeriod"/>
            </a:pPr>
            <a:r>
              <a:rPr lang="en-US" sz="2200" b="1">
                <a:solidFill>
                  <a:srgbClr val="444444"/>
                </a:solidFill>
                <a:latin typeface="Cambria"/>
                <a:ea typeface="Cambria"/>
                <a:cs typeface="Cambria"/>
                <a:sym typeface="Cambria"/>
              </a:rPr>
              <a:t>Started Service</a:t>
            </a:r>
            <a:endParaRPr/>
          </a:p>
          <a:p>
            <a:pPr marL="186690" marR="5080" lvl="0" indent="-174625" algn="just" rtl="0">
              <a:lnSpc>
                <a:spcPct val="160000"/>
              </a:lnSpc>
              <a:spcBef>
                <a:spcPts val="100"/>
              </a:spcBef>
              <a:spcAft>
                <a:spcPts val="0"/>
              </a:spcAft>
              <a:buClr>
                <a:srgbClr val="444444"/>
              </a:buClr>
              <a:buSzPct val="100000"/>
              <a:buFont typeface="Arial"/>
              <a:buChar char="•"/>
            </a:pPr>
            <a:r>
              <a:rPr lang="en-US" sz="2200">
                <a:solidFill>
                  <a:srgbClr val="444444"/>
                </a:solidFill>
                <a:latin typeface="Cambria"/>
                <a:ea typeface="Cambria"/>
                <a:cs typeface="Cambria"/>
                <a:sym typeface="Cambria"/>
              </a:rPr>
              <a:t>A  service  becomes  started  only  when  an  application  component 	calls startService(). It performs a single operation and doesn’t return 	any  result  to  the  caller.  Once  this  service  starts,  it  runs  in  the background even if the component that created it destroys. This 	service can be stopped only in one of the two cases</a:t>
            </a:r>
            <a:endParaRPr sz="2200">
              <a:latin typeface="Cambria"/>
              <a:ea typeface="Cambria"/>
              <a:cs typeface="Cambria"/>
              <a:sym typeface="Cambria"/>
            </a:endParaRPr>
          </a:p>
          <a:p>
            <a:pPr marL="416559" lvl="0" indent="-228600" algn="just" rtl="0">
              <a:lnSpc>
                <a:spcPct val="100000"/>
              </a:lnSpc>
              <a:spcBef>
                <a:spcPts val="1000"/>
              </a:spcBef>
              <a:spcAft>
                <a:spcPts val="0"/>
              </a:spcAft>
              <a:buClr>
                <a:srgbClr val="444444"/>
              </a:buClr>
              <a:buSzPct val="100000"/>
              <a:buChar char="•"/>
            </a:pPr>
            <a:r>
              <a:rPr lang="en-US" sz="2200">
                <a:solidFill>
                  <a:srgbClr val="444444"/>
                </a:solidFill>
                <a:latin typeface="Cambria"/>
                <a:ea typeface="Cambria"/>
                <a:cs typeface="Cambria"/>
                <a:sym typeface="Cambria"/>
              </a:rPr>
              <a:t>By using the stopService() method.</a:t>
            </a:r>
            <a:endParaRPr sz="2200">
              <a:latin typeface="Cambria"/>
              <a:ea typeface="Cambria"/>
              <a:cs typeface="Cambria"/>
              <a:sym typeface="Cambria"/>
            </a:endParaRPr>
          </a:p>
          <a:p>
            <a:pPr marL="416559" lvl="0" indent="-228600" algn="just" rtl="0">
              <a:lnSpc>
                <a:spcPct val="100000"/>
              </a:lnSpc>
              <a:spcBef>
                <a:spcPts val="1000"/>
              </a:spcBef>
              <a:spcAft>
                <a:spcPts val="0"/>
              </a:spcAft>
              <a:buClr>
                <a:srgbClr val="444444"/>
              </a:buClr>
              <a:buSzPct val="100000"/>
              <a:buChar char="•"/>
            </a:pPr>
            <a:r>
              <a:rPr lang="en-US" sz="2200">
                <a:solidFill>
                  <a:srgbClr val="444444"/>
                </a:solidFill>
                <a:latin typeface="Cambria"/>
                <a:ea typeface="Cambria"/>
                <a:cs typeface="Cambria"/>
                <a:sym typeface="Cambria"/>
              </a:rPr>
              <a:t>By stopping itself using the stopSelf() method.</a:t>
            </a:r>
            <a:endParaRPr sz="2200">
              <a:latin typeface="Cambria"/>
              <a:ea typeface="Cambria"/>
              <a:cs typeface="Cambria"/>
              <a:sym typeface="Cambria"/>
            </a:endParaRPr>
          </a:p>
          <a:p>
            <a:pPr marL="469900" lvl="1" indent="0" algn="l" rtl="0">
              <a:lnSpc>
                <a:spcPct val="100000"/>
              </a:lnSpc>
              <a:spcBef>
                <a:spcPts val="625"/>
              </a:spcBef>
              <a:spcAft>
                <a:spcPts val="0"/>
              </a:spcAft>
              <a:buClr>
                <a:schemeClr val="dk1"/>
              </a:buClr>
              <a:buSzPct val="100000"/>
              <a:buNone/>
            </a:pPr>
            <a:endParaRPr>
              <a:latin typeface="Calibri"/>
              <a:ea typeface="Calibri"/>
              <a:cs typeface="Calibri"/>
              <a:sym typeface="Calibri"/>
            </a:endParaRPr>
          </a:p>
          <a:p>
            <a:pPr marL="228600" lvl="0" indent="-64135" algn="l" rtl="0">
              <a:lnSpc>
                <a:spcPct val="90000"/>
              </a:lnSpc>
              <a:spcBef>
                <a:spcPts val="1000"/>
              </a:spcBef>
              <a:spcAft>
                <a:spcPts val="0"/>
              </a:spcAft>
              <a:buClr>
                <a:schemeClr val="dk1"/>
              </a:buClr>
              <a:buSzPct val="100000"/>
              <a:buNone/>
            </a:pPr>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Service</a:t>
            </a:r>
            <a:endParaRPr sz="2400" b="1">
              <a:latin typeface="Cambria"/>
              <a:ea typeface="Cambria"/>
              <a:cs typeface="Cambria"/>
              <a:sym typeface="Cambria"/>
            </a:endParaRPr>
          </a:p>
        </p:txBody>
      </p:sp>
      <p:sp>
        <p:nvSpPr>
          <p:cNvPr id="274" name="Google Shape;274;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marR="21590" lvl="0" indent="0" algn="just" rtl="0">
              <a:lnSpc>
                <a:spcPct val="139500"/>
              </a:lnSpc>
              <a:spcBef>
                <a:spcPts val="0"/>
              </a:spcBef>
              <a:spcAft>
                <a:spcPts val="0"/>
              </a:spcAft>
              <a:buClr>
                <a:srgbClr val="444444"/>
              </a:buClr>
              <a:buSzPts val="2000"/>
              <a:buNone/>
            </a:pPr>
            <a:r>
              <a:rPr lang="en-US" sz="2000" b="1">
                <a:solidFill>
                  <a:srgbClr val="444444"/>
                </a:solidFill>
                <a:latin typeface="Cambria"/>
                <a:ea typeface="Cambria"/>
                <a:cs typeface="Cambria"/>
                <a:sym typeface="Cambria"/>
              </a:rPr>
              <a:t>2. Bounded Service</a:t>
            </a:r>
            <a:endParaRPr sz="2000" b="1">
              <a:solidFill>
                <a:srgbClr val="444444"/>
              </a:solidFill>
              <a:latin typeface="Cambria"/>
              <a:ea typeface="Cambria"/>
              <a:cs typeface="Cambria"/>
              <a:sym typeface="Cambria"/>
            </a:endParaRPr>
          </a:p>
          <a:p>
            <a:pPr marL="191770" marR="21590" lvl="0" indent="-191770" algn="just" rtl="0">
              <a:lnSpc>
                <a:spcPct val="139500"/>
              </a:lnSpc>
              <a:spcBef>
                <a:spcPts val="100"/>
              </a:spcBef>
              <a:spcAft>
                <a:spcPts val="0"/>
              </a:spcAft>
              <a:buClr>
                <a:srgbClr val="444444"/>
              </a:buClr>
              <a:buSzPts val="2000"/>
              <a:buChar char="•"/>
            </a:pPr>
            <a:r>
              <a:rPr lang="en-US" sz="2000">
                <a:solidFill>
                  <a:srgbClr val="444444"/>
                </a:solidFill>
                <a:latin typeface="Cambria"/>
                <a:ea typeface="Cambria"/>
                <a:cs typeface="Cambria"/>
                <a:sym typeface="Cambria"/>
              </a:rPr>
              <a:t>A service is bound only	if an application component binds to it using bindService().  It  gives a client-server relation that lets the components interact with the service. The components can send requests to services and get results.</a:t>
            </a:r>
            <a:endParaRPr sz="2000">
              <a:latin typeface="Cambria"/>
              <a:ea typeface="Cambria"/>
              <a:cs typeface="Cambria"/>
              <a:sym typeface="Cambria"/>
            </a:endParaRPr>
          </a:p>
          <a:p>
            <a:pPr marL="191770" marR="5080" lvl="0" indent="-179705" algn="just" rtl="0">
              <a:lnSpc>
                <a:spcPct val="139500"/>
              </a:lnSpc>
              <a:spcBef>
                <a:spcPts val="1000"/>
              </a:spcBef>
              <a:spcAft>
                <a:spcPts val="0"/>
              </a:spcAft>
              <a:buClr>
                <a:srgbClr val="444444"/>
              </a:buClr>
              <a:buSzPts val="2000"/>
              <a:buFont typeface="Arial"/>
              <a:buChar char="•"/>
            </a:pPr>
            <a:r>
              <a:rPr lang="en-US" sz="2000">
                <a:solidFill>
                  <a:srgbClr val="444444"/>
                </a:solidFill>
                <a:latin typeface="Cambria"/>
                <a:ea typeface="Cambria"/>
                <a:cs typeface="Cambria"/>
                <a:sym typeface="Cambria"/>
              </a:rPr>
              <a:t>This service runs in the background as long as another application is bound to  it.  Or  it  can  be unbound according  to our requirement  by  using the unbindService() method.</a:t>
            </a:r>
            <a:endParaRPr sz="2000">
              <a:latin typeface="Cambria"/>
              <a:ea typeface="Cambria"/>
              <a:cs typeface="Cambria"/>
              <a:sym typeface="Cambria"/>
            </a:endParaRPr>
          </a:p>
          <a:p>
            <a:pPr marL="228600" lvl="0" indent="-50800" algn="l" rtl="0">
              <a:lnSpc>
                <a:spcPct val="90000"/>
              </a:lnSpc>
              <a:spcBef>
                <a:spcPts val="1000"/>
              </a:spcBef>
              <a:spcAft>
                <a:spcPts val="0"/>
              </a:spcAft>
              <a:buClr>
                <a:schemeClr val="dk1"/>
              </a:buClr>
              <a:buSzPts val="2800"/>
              <a:buNone/>
            </a:pPr>
            <a:endParaRPr>
              <a:latin typeface="Calibri"/>
              <a:ea typeface="Calibri"/>
              <a:cs typeface="Calibri"/>
              <a:sym typeface="Calibri"/>
            </a:endParaRPr>
          </a:p>
          <a:p>
            <a:pPr marL="228600" lvl="0" indent="-50800" algn="l" rtl="0">
              <a:lnSpc>
                <a:spcPct val="90000"/>
              </a:lnSpc>
              <a:spcBef>
                <a:spcPts val="1000"/>
              </a:spcBef>
              <a:spcAft>
                <a:spcPts val="0"/>
              </a:spcAft>
              <a:buClr>
                <a:schemeClr val="dk1"/>
              </a:buClr>
              <a:buSzPts val="2800"/>
              <a:buNone/>
            </a:pPr>
            <a:endParaRPr>
              <a:latin typeface="Calibri"/>
              <a:ea typeface="Calibri"/>
              <a:cs typeface="Calibri"/>
              <a:sym typeface="Calibri"/>
            </a:endParaRPr>
          </a:p>
          <a:p>
            <a:pPr marL="228600" lvl="0" indent="-50800" algn="l" rtl="0">
              <a:lnSpc>
                <a:spcPct val="90000"/>
              </a:lnSpc>
              <a:spcBef>
                <a:spcPts val="1000"/>
              </a:spcBef>
              <a:spcAft>
                <a:spcPts val="0"/>
              </a:spcAft>
              <a:buClr>
                <a:schemeClr val="dk1"/>
              </a:buClr>
              <a:buSzPts val="2800"/>
              <a:buNone/>
            </a:pPr>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Content Provider</a:t>
            </a:r>
            <a:endParaRPr sz="2400" b="1">
              <a:latin typeface="Cambria"/>
              <a:ea typeface="Cambria"/>
              <a:cs typeface="Cambria"/>
              <a:sym typeface="Cambria"/>
            </a:endParaRPr>
          </a:p>
        </p:txBody>
      </p:sp>
      <p:sp>
        <p:nvSpPr>
          <p:cNvPr id="281" name="Google Shape;281;p26"/>
          <p:cNvSpPr txBox="1">
            <a:spLocks noGrp="1"/>
          </p:cNvSpPr>
          <p:nvPr>
            <p:ph type="body" idx="1"/>
          </p:nvPr>
        </p:nvSpPr>
        <p:spPr>
          <a:xfrm>
            <a:off x="1294362" y="1690687"/>
            <a:ext cx="10059438" cy="4386555"/>
          </a:xfrm>
          <a:prstGeom prst="rect">
            <a:avLst/>
          </a:prstGeom>
          <a:noFill/>
          <a:ln>
            <a:noFill/>
          </a:ln>
        </p:spPr>
        <p:txBody>
          <a:bodyPr spcFirstLastPara="1" wrap="square" lIns="91425" tIns="45700" rIns="91425" bIns="45700" anchor="t" anchorCtr="0">
            <a:normAutofit fontScale="55000" lnSpcReduction="20000"/>
          </a:bodyPr>
          <a:lstStyle/>
          <a:p>
            <a:pPr marL="198120" lvl="0" indent="-185420" algn="just" rtl="0">
              <a:lnSpc>
                <a:spcPct val="100000"/>
              </a:lnSpc>
              <a:spcBef>
                <a:spcPts val="0"/>
              </a:spcBef>
              <a:spcAft>
                <a:spcPts val="0"/>
              </a:spcAft>
              <a:buClr>
                <a:srgbClr val="444444"/>
              </a:buClr>
              <a:buSzPct val="100000"/>
              <a:buFont typeface="Arial"/>
              <a:buChar char="•"/>
            </a:pPr>
            <a:r>
              <a:rPr lang="en-US" sz="3600">
                <a:latin typeface="Cambria"/>
                <a:ea typeface="Cambria"/>
                <a:cs typeface="Cambria"/>
                <a:sym typeface="Cambria"/>
              </a:rPr>
              <a:t>Content Providers are an important component of Android.</a:t>
            </a:r>
            <a:endParaRPr sz="3600">
              <a:latin typeface="Cambria"/>
              <a:ea typeface="Cambria"/>
              <a:cs typeface="Cambria"/>
              <a:sym typeface="Cambria"/>
            </a:endParaRPr>
          </a:p>
          <a:p>
            <a:pPr marL="197485" marR="28575" lvl="0" indent="-185420" algn="just" rtl="0">
              <a:lnSpc>
                <a:spcPct val="141300"/>
              </a:lnSpc>
              <a:spcBef>
                <a:spcPts val="1000"/>
              </a:spcBef>
              <a:spcAft>
                <a:spcPts val="0"/>
              </a:spcAft>
              <a:buClr>
                <a:srgbClr val="444444"/>
              </a:buClr>
              <a:buSzPct val="100000"/>
              <a:buFont typeface="Arial"/>
              <a:buChar char="•"/>
            </a:pPr>
            <a:r>
              <a:rPr lang="en-US" sz="3600">
                <a:latin typeface="Cambria"/>
                <a:ea typeface="Cambria"/>
                <a:cs typeface="Cambria"/>
                <a:sym typeface="Cambria"/>
              </a:rPr>
              <a:t>They handle the access to the central repository and supply data from one application to another on request.</a:t>
            </a:r>
            <a:endParaRPr sz="3600">
              <a:latin typeface="Cambria"/>
              <a:ea typeface="Cambria"/>
              <a:cs typeface="Cambria"/>
              <a:sym typeface="Cambria"/>
            </a:endParaRPr>
          </a:p>
          <a:p>
            <a:pPr marL="197485" marR="26034" lvl="0" indent="-185420" algn="just" rtl="0">
              <a:lnSpc>
                <a:spcPct val="141300"/>
              </a:lnSpc>
              <a:spcBef>
                <a:spcPts val="1000"/>
              </a:spcBef>
              <a:spcAft>
                <a:spcPts val="0"/>
              </a:spcAft>
              <a:buClr>
                <a:srgbClr val="444444"/>
              </a:buClr>
              <a:buSzPct val="100000"/>
              <a:buFont typeface="Arial"/>
              <a:buChar char="•"/>
            </a:pPr>
            <a:r>
              <a:rPr lang="en-US" sz="3600">
                <a:latin typeface="Cambria"/>
                <a:ea typeface="Cambria"/>
                <a:cs typeface="Cambria"/>
                <a:sym typeface="Cambria"/>
              </a:rPr>
              <a:t>This  task  of  handling  is  done  by  methods  of ContentResolver class.  So,  content providers can store data in various ways such as files, database or over the internet.</a:t>
            </a:r>
            <a:endParaRPr sz="3600">
              <a:latin typeface="Cambria"/>
              <a:ea typeface="Cambria"/>
              <a:cs typeface="Cambria"/>
              <a:sym typeface="Cambria"/>
            </a:endParaRPr>
          </a:p>
          <a:p>
            <a:pPr marL="197485" marR="13970" lvl="0" indent="-185420" algn="just" rtl="0">
              <a:lnSpc>
                <a:spcPct val="141300"/>
              </a:lnSpc>
              <a:spcBef>
                <a:spcPts val="994"/>
              </a:spcBef>
              <a:spcAft>
                <a:spcPts val="0"/>
              </a:spcAft>
              <a:buClr>
                <a:srgbClr val="444444"/>
              </a:buClr>
              <a:buSzPct val="100000"/>
              <a:buFont typeface="Arial"/>
              <a:buChar char="•"/>
            </a:pPr>
            <a:r>
              <a:rPr lang="en-US" sz="3600">
                <a:latin typeface="Cambria"/>
                <a:ea typeface="Cambria"/>
                <a:cs typeface="Cambria"/>
                <a:sym typeface="Cambria"/>
              </a:rPr>
              <a:t>It acts as the same as database and also we can query it to add, delete, insert or update the data.</a:t>
            </a:r>
            <a:endParaRPr sz="3600">
              <a:latin typeface="Cambria"/>
              <a:ea typeface="Cambria"/>
              <a:cs typeface="Cambria"/>
              <a:sym typeface="Cambria"/>
            </a:endParaRPr>
          </a:p>
          <a:p>
            <a:pPr marL="197485" marR="5080" lvl="0" indent="-185420" algn="just" rtl="0">
              <a:lnSpc>
                <a:spcPct val="141300"/>
              </a:lnSpc>
              <a:spcBef>
                <a:spcPts val="1000"/>
              </a:spcBef>
              <a:spcAft>
                <a:spcPts val="0"/>
              </a:spcAft>
              <a:buClr>
                <a:srgbClr val="444444"/>
              </a:buClr>
              <a:buSzPct val="100000"/>
              <a:buFont typeface="Arial"/>
              <a:buChar char="•"/>
            </a:pPr>
            <a:r>
              <a:rPr lang="en-US" sz="3600">
                <a:latin typeface="Cambria"/>
                <a:ea typeface="Cambria"/>
                <a:cs typeface="Cambria"/>
                <a:sym typeface="Cambria"/>
              </a:rPr>
              <a:t>It can be understood that a content provider hides the database details and also, it lets an application share data among other applications. Content providers are not limited to texts, but also contains images and videos as well.</a:t>
            </a:r>
            <a:endParaRPr sz="3600">
              <a:latin typeface="Cambria"/>
              <a:ea typeface="Cambria"/>
              <a:cs typeface="Cambria"/>
              <a:sym typeface="Cambria"/>
            </a:endParaRPr>
          </a:p>
          <a:p>
            <a:pPr marL="228600" lvl="0" indent="-130810" algn="l" rtl="0">
              <a:lnSpc>
                <a:spcPct val="90000"/>
              </a:lnSpc>
              <a:spcBef>
                <a:spcPts val="1000"/>
              </a:spcBef>
              <a:spcAft>
                <a:spcPts val="0"/>
              </a:spcAft>
              <a:buClr>
                <a:schemeClr val="dk1"/>
              </a:buClr>
              <a:buSzPct val="100000"/>
              <a:buNone/>
            </a:pPr>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Content Provider</a:t>
            </a:r>
            <a:endParaRPr sz="2400" b="1">
              <a:latin typeface="Cambria"/>
              <a:ea typeface="Cambria"/>
              <a:cs typeface="Cambria"/>
              <a:sym typeface="Cambria"/>
            </a:endParaRPr>
          </a:p>
        </p:txBody>
      </p:sp>
      <p:pic>
        <p:nvPicPr>
          <p:cNvPr id="288" name="Google Shape;288;p27"/>
          <p:cNvPicPr preferRelativeResize="0">
            <a:picLocks noGrp="1"/>
          </p:cNvPicPr>
          <p:nvPr>
            <p:ph type="body" idx="1"/>
          </p:nvPr>
        </p:nvPicPr>
        <p:blipFill rotWithShape="1">
          <a:blip r:embed="rId3">
            <a:alphaModFix/>
          </a:blip>
          <a:srcRect l="2892" t="15315" r="2746" b="16113"/>
          <a:stretch/>
        </p:blipFill>
        <p:spPr>
          <a:xfrm>
            <a:off x="2991678" y="2276061"/>
            <a:ext cx="6321134" cy="3170582"/>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5" name="Picture 4"/>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Content Provider</a:t>
            </a:r>
            <a:endParaRPr sz="2400" b="1">
              <a:latin typeface="Cambria"/>
              <a:ea typeface="Cambria"/>
              <a:cs typeface="Cambria"/>
              <a:sym typeface="Cambria"/>
            </a:endParaRPr>
          </a:p>
        </p:txBody>
      </p:sp>
      <p:pic>
        <p:nvPicPr>
          <p:cNvPr id="295" name="Google Shape;295;p28"/>
          <p:cNvPicPr preferRelativeResize="0">
            <a:picLocks noGrp="1"/>
          </p:cNvPicPr>
          <p:nvPr>
            <p:ph type="body" idx="1"/>
          </p:nvPr>
        </p:nvPicPr>
        <p:blipFill rotWithShape="1">
          <a:blip r:embed="rId3">
            <a:alphaModFix/>
          </a:blip>
          <a:srcRect/>
          <a:stretch/>
        </p:blipFill>
        <p:spPr>
          <a:xfrm>
            <a:off x="3489960" y="1505011"/>
            <a:ext cx="5943600" cy="3867150"/>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5" name="Picture 4"/>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Content Provider</a:t>
            </a:r>
            <a:endParaRPr sz="2400" b="1">
              <a:latin typeface="Cambria"/>
              <a:ea typeface="Cambria"/>
              <a:cs typeface="Cambria"/>
              <a:sym typeface="Cambria"/>
            </a:endParaRPr>
          </a:p>
        </p:txBody>
      </p:sp>
      <p:sp>
        <p:nvSpPr>
          <p:cNvPr id="302" name="Google Shape;302;p29"/>
          <p:cNvSpPr txBox="1">
            <a:spLocks noGrp="1"/>
          </p:cNvSpPr>
          <p:nvPr>
            <p:ph type="body" idx="1"/>
          </p:nvPr>
        </p:nvSpPr>
        <p:spPr>
          <a:xfrm>
            <a:off x="838200" y="1853760"/>
            <a:ext cx="10515600" cy="4351338"/>
          </a:xfrm>
          <a:prstGeom prst="rect">
            <a:avLst/>
          </a:prstGeom>
          <a:noFill/>
          <a:ln>
            <a:noFill/>
          </a:ln>
        </p:spPr>
        <p:txBody>
          <a:bodyPr spcFirstLastPara="1" wrap="square" lIns="91425" tIns="45700" rIns="91425" bIns="45700" anchor="t" anchorCtr="0">
            <a:normAutofit/>
          </a:bodyPr>
          <a:lstStyle/>
          <a:p>
            <a:pPr marL="194310" marR="10795" lvl="0" indent="-182245" algn="just" rtl="0">
              <a:lnSpc>
                <a:spcPct val="141800"/>
              </a:lnSpc>
              <a:spcBef>
                <a:spcPts val="0"/>
              </a:spcBef>
              <a:spcAft>
                <a:spcPts val="0"/>
              </a:spcAft>
              <a:buClr>
                <a:srgbClr val="444444"/>
              </a:buClr>
              <a:buSzPts val="2000"/>
              <a:buFont typeface="Arial"/>
              <a:buChar char="•"/>
            </a:pPr>
            <a:r>
              <a:rPr lang="en-US" sz="2000">
                <a:solidFill>
                  <a:srgbClr val="444444"/>
                </a:solidFill>
                <a:latin typeface="Calibri"/>
                <a:ea typeface="Calibri"/>
                <a:cs typeface="Calibri"/>
                <a:sym typeface="Calibri"/>
              </a:rPr>
              <a:t>We  need  to  use  the ContentResolver object  in  our  application,  in  order  to 	communicate with the content providers for data access.</a:t>
            </a:r>
            <a:endParaRPr sz="2000">
              <a:latin typeface="Calibri"/>
              <a:ea typeface="Calibri"/>
              <a:cs typeface="Calibri"/>
              <a:sym typeface="Calibri"/>
            </a:endParaRPr>
          </a:p>
          <a:p>
            <a:pPr marL="194310" marR="5080" lvl="0" indent="-182245" algn="just" rtl="0">
              <a:lnSpc>
                <a:spcPct val="141800"/>
              </a:lnSpc>
              <a:spcBef>
                <a:spcPts val="1000"/>
              </a:spcBef>
              <a:spcAft>
                <a:spcPts val="0"/>
              </a:spcAft>
              <a:buClr>
                <a:srgbClr val="444444"/>
              </a:buClr>
              <a:buSzPts val="2000"/>
              <a:buFont typeface="Arial"/>
              <a:buChar char="•"/>
            </a:pPr>
            <a:r>
              <a:rPr lang="en-US" sz="2000">
                <a:solidFill>
                  <a:srgbClr val="444444"/>
                </a:solidFill>
                <a:latin typeface="Calibri"/>
                <a:ea typeface="Calibri"/>
                <a:cs typeface="Calibri"/>
                <a:sym typeface="Calibri"/>
              </a:rPr>
              <a:t>Now to enable communication between the user interface and ContentResolver, 	we  use  another  object, CursorLoader to  run  query  asynchronously.  This 	CursorLoader will be called using Activity/Fragment of the application.</a:t>
            </a:r>
            <a:endParaRPr sz="2000">
              <a:latin typeface="Calibri"/>
              <a:ea typeface="Calibri"/>
              <a:cs typeface="Calibri"/>
              <a:sym typeface="Calibri"/>
            </a:endParaRPr>
          </a:p>
          <a:p>
            <a:pPr marL="194310" marR="13970" lvl="0" indent="-182245" algn="just" rtl="0">
              <a:lnSpc>
                <a:spcPct val="141800"/>
              </a:lnSpc>
              <a:spcBef>
                <a:spcPts val="1000"/>
              </a:spcBef>
              <a:spcAft>
                <a:spcPts val="0"/>
              </a:spcAft>
              <a:buClr>
                <a:srgbClr val="444444"/>
              </a:buClr>
              <a:buSzPts val="2000"/>
              <a:buFont typeface="Arial"/>
              <a:buChar char="•"/>
            </a:pPr>
            <a:r>
              <a:rPr lang="en-US" sz="2000">
                <a:solidFill>
                  <a:srgbClr val="444444"/>
                </a:solidFill>
                <a:latin typeface="Calibri"/>
                <a:ea typeface="Calibri"/>
                <a:cs typeface="Calibri"/>
                <a:sym typeface="Calibri"/>
              </a:rPr>
              <a:t>Then, the content provider receives the query from the client and executes and 	returns the result.</a:t>
            </a:r>
            <a:endParaRPr sz="2000">
              <a:latin typeface="Calibri"/>
              <a:ea typeface="Calibri"/>
              <a:cs typeface="Calibri"/>
              <a:sym typeface="Calibri"/>
            </a:endParaRPr>
          </a:p>
          <a:p>
            <a:pPr marL="228600" lvl="0" indent="-50800" algn="l" rtl="0">
              <a:lnSpc>
                <a:spcPct val="90000"/>
              </a:lnSpc>
              <a:spcBef>
                <a:spcPts val="1000"/>
              </a:spcBef>
              <a:spcAft>
                <a:spcPts val="0"/>
              </a:spcAft>
              <a:buClr>
                <a:schemeClr val="dk1"/>
              </a:buClr>
              <a:buSzPts val="2800"/>
              <a:buNone/>
            </a:pPr>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0"/>
          <p:cNvSpPr txBox="1">
            <a:spLocks noGrp="1"/>
          </p:cNvSpPr>
          <p:nvPr>
            <p:ph type="title"/>
          </p:nvPr>
        </p:nvSpPr>
        <p:spPr>
          <a:xfrm>
            <a:off x="900332" y="365125"/>
            <a:ext cx="10453468" cy="13792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a:latin typeface="Cambria"/>
                <a:ea typeface="Cambria"/>
                <a:cs typeface="Cambria"/>
                <a:sym typeface="Cambria"/>
              </a:rPr>
              <a:t>Content Provider</a:t>
            </a:r>
            <a:endParaRPr sz="2400">
              <a:latin typeface="Cambria"/>
              <a:ea typeface="Cambria"/>
              <a:cs typeface="Cambria"/>
              <a:sym typeface="Cambria"/>
            </a:endParaRPr>
          </a:p>
        </p:txBody>
      </p:sp>
      <p:sp>
        <p:nvSpPr>
          <p:cNvPr id="309" name="Google Shape;309;p30"/>
          <p:cNvSpPr txBox="1">
            <a:spLocks noGrp="1"/>
          </p:cNvSpPr>
          <p:nvPr>
            <p:ph type="body" idx="1"/>
          </p:nvPr>
        </p:nvSpPr>
        <p:spPr>
          <a:xfrm>
            <a:off x="1451579" y="2015732"/>
            <a:ext cx="9603275" cy="4106772"/>
          </a:xfrm>
          <a:prstGeom prst="rect">
            <a:avLst/>
          </a:prstGeom>
          <a:noFill/>
          <a:ln>
            <a:noFill/>
          </a:ln>
        </p:spPr>
        <p:txBody>
          <a:bodyPr spcFirstLastPara="1" wrap="square" lIns="91425" tIns="45700" rIns="91425" bIns="45700" anchor="t" anchorCtr="0">
            <a:normAutofit fontScale="85000" lnSpcReduction="10000"/>
          </a:bodyPr>
          <a:lstStyle/>
          <a:p>
            <a:pPr marL="191770" marR="5080" lvl="0" indent="-179705" algn="l" rtl="0">
              <a:lnSpc>
                <a:spcPct val="107692"/>
              </a:lnSpc>
              <a:spcBef>
                <a:spcPts val="0"/>
              </a:spcBef>
              <a:spcAft>
                <a:spcPts val="0"/>
              </a:spcAft>
              <a:buClr>
                <a:srgbClr val="444444"/>
              </a:buClr>
              <a:buSzPct val="100000"/>
              <a:buFont typeface="Arial"/>
              <a:buChar char="•"/>
            </a:pPr>
            <a:r>
              <a:rPr lang="en-US" sz="2600" b="1">
                <a:solidFill>
                  <a:srgbClr val="444444"/>
                </a:solidFill>
                <a:latin typeface="Cambria"/>
                <a:ea typeface="Cambria"/>
                <a:cs typeface="Cambria"/>
                <a:sym typeface="Cambria"/>
              </a:rPr>
              <a:t>onCreate() – </a:t>
            </a:r>
            <a:r>
              <a:rPr lang="en-US" sz="2600">
                <a:solidFill>
                  <a:srgbClr val="444444"/>
                </a:solidFill>
                <a:latin typeface="Cambria"/>
                <a:ea typeface="Cambria"/>
                <a:cs typeface="Cambria"/>
                <a:sym typeface="Cambria"/>
              </a:rPr>
              <a:t>This method in Android initializes the provider as soon as the receiver is created.</a:t>
            </a:r>
            <a:endParaRPr sz="2600">
              <a:latin typeface="Cambria"/>
              <a:ea typeface="Cambria"/>
              <a:cs typeface="Cambria"/>
              <a:sym typeface="Cambria"/>
            </a:endParaRPr>
          </a:p>
          <a:p>
            <a:pPr marL="191770" marR="11430" lvl="0" indent="-179705" algn="l" rtl="0">
              <a:lnSpc>
                <a:spcPct val="107692"/>
              </a:lnSpc>
              <a:spcBef>
                <a:spcPts val="995"/>
              </a:spcBef>
              <a:spcAft>
                <a:spcPts val="0"/>
              </a:spcAft>
              <a:buClr>
                <a:srgbClr val="444444"/>
              </a:buClr>
              <a:buSzPct val="100000"/>
              <a:buFont typeface="Arial"/>
              <a:buChar char="•"/>
            </a:pPr>
            <a:r>
              <a:rPr lang="en-US" sz="2600" b="1">
                <a:solidFill>
                  <a:srgbClr val="444444"/>
                </a:solidFill>
                <a:latin typeface="Cambria"/>
                <a:ea typeface="Cambria"/>
                <a:cs typeface="Cambria"/>
                <a:sym typeface="Cambria"/>
              </a:rPr>
              <a:t>query() – </a:t>
            </a:r>
            <a:r>
              <a:rPr lang="en-US" sz="2600">
                <a:solidFill>
                  <a:srgbClr val="444444"/>
                </a:solidFill>
                <a:latin typeface="Cambria"/>
                <a:ea typeface="Cambria"/>
                <a:cs typeface="Cambria"/>
                <a:sym typeface="Cambria"/>
              </a:rPr>
              <a:t>It receives a request in the form of a query from the user and responds with a cursor in Android.</a:t>
            </a:r>
            <a:endParaRPr sz="2600">
              <a:latin typeface="Cambria"/>
              <a:ea typeface="Cambria"/>
              <a:cs typeface="Cambria"/>
              <a:sym typeface="Cambria"/>
            </a:endParaRPr>
          </a:p>
          <a:p>
            <a:pPr marL="191770" lvl="0" indent="-179070" algn="l" rtl="0">
              <a:lnSpc>
                <a:spcPct val="100000"/>
              </a:lnSpc>
              <a:spcBef>
                <a:spcPts val="630"/>
              </a:spcBef>
              <a:spcAft>
                <a:spcPts val="0"/>
              </a:spcAft>
              <a:buClr>
                <a:srgbClr val="444444"/>
              </a:buClr>
              <a:buSzPct val="100000"/>
              <a:buFont typeface="Arial"/>
              <a:buChar char="•"/>
            </a:pPr>
            <a:r>
              <a:rPr lang="en-US" sz="2600" b="1">
                <a:solidFill>
                  <a:srgbClr val="444444"/>
                </a:solidFill>
                <a:latin typeface="Cambria"/>
                <a:ea typeface="Cambria"/>
                <a:cs typeface="Cambria"/>
                <a:sym typeface="Cambria"/>
              </a:rPr>
              <a:t>insert() – </a:t>
            </a:r>
            <a:r>
              <a:rPr lang="en-US" sz="2600">
                <a:solidFill>
                  <a:srgbClr val="444444"/>
                </a:solidFill>
                <a:latin typeface="Cambria"/>
                <a:ea typeface="Cambria"/>
                <a:cs typeface="Cambria"/>
                <a:sym typeface="Cambria"/>
              </a:rPr>
              <a:t>This method is used to insert the data into our content provider.</a:t>
            </a:r>
            <a:endParaRPr sz="2600">
              <a:latin typeface="Cambria"/>
              <a:ea typeface="Cambria"/>
              <a:cs typeface="Cambria"/>
              <a:sym typeface="Cambria"/>
            </a:endParaRPr>
          </a:p>
          <a:p>
            <a:pPr marL="191770" marR="17780" lvl="0" indent="-179705" algn="l" rtl="0">
              <a:lnSpc>
                <a:spcPct val="107692"/>
              </a:lnSpc>
              <a:spcBef>
                <a:spcPts val="1040"/>
              </a:spcBef>
              <a:spcAft>
                <a:spcPts val="0"/>
              </a:spcAft>
              <a:buClr>
                <a:srgbClr val="444444"/>
              </a:buClr>
              <a:buSzPct val="100000"/>
              <a:buFont typeface="Arial"/>
              <a:buChar char="•"/>
            </a:pPr>
            <a:r>
              <a:rPr lang="en-US" sz="2600" b="1">
                <a:solidFill>
                  <a:srgbClr val="444444"/>
                </a:solidFill>
                <a:latin typeface="Cambria"/>
                <a:ea typeface="Cambria"/>
                <a:cs typeface="Cambria"/>
                <a:sym typeface="Cambria"/>
              </a:rPr>
              <a:t>update() – </a:t>
            </a:r>
            <a:r>
              <a:rPr lang="en-US" sz="2600">
                <a:solidFill>
                  <a:srgbClr val="444444"/>
                </a:solidFill>
                <a:latin typeface="Cambria"/>
                <a:ea typeface="Cambria"/>
                <a:cs typeface="Cambria"/>
                <a:sym typeface="Cambria"/>
              </a:rPr>
              <a:t>This method is used to update existing data in a row and return the updated row data.</a:t>
            </a:r>
            <a:endParaRPr sz="2600">
              <a:latin typeface="Cambria"/>
              <a:ea typeface="Cambria"/>
              <a:cs typeface="Cambria"/>
              <a:sym typeface="Cambria"/>
            </a:endParaRPr>
          </a:p>
          <a:p>
            <a:pPr marL="191770" lvl="0" indent="-179070" algn="l" rtl="0">
              <a:lnSpc>
                <a:spcPct val="100000"/>
              </a:lnSpc>
              <a:spcBef>
                <a:spcPts val="635"/>
              </a:spcBef>
              <a:spcAft>
                <a:spcPts val="0"/>
              </a:spcAft>
              <a:buClr>
                <a:srgbClr val="444444"/>
              </a:buClr>
              <a:buSzPct val="100000"/>
              <a:buFont typeface="Arial"/>
              <a:buChar char="•"/>
            </a:pPr>
            <a:r>
              <a:rPr lang="en-US" sz="2600" b="1">
                <a:solidFill>
                  <a:srgbClr val="444444"/>
                </a:solidFill>
                <a:latin typeface="Cambria"/>
                <a:ea typeface="Cambria"/>
                <a:cs typeface="Cambria"/>
                <a:sym typeface="Cambria"/>
              </a:rPr>
              <a:t>delete() – </a:t>
            </a:r>
            <a:r>
              <a:rPr lang="en-US" sz="2600">
                <a:solidFill>
                  <a:srgbClr val="444444"/>
                </a:solidFill>
                <a:latin typeface="Cambria"/>
                <a:ea typeface="Cambria"/>
                <a:cs typeface="Cambria"/>
                <a:sym typeface="Cambria"/>
              </a:rPr>
              <a:t>This method deletes existing data from the content provider.</a:t>
            </a:r>
            <a:endParaRPr sz="2600">
              <a:latin typeface="Cambria"/>
              <a:ea typeface="Cambria"/>
              <a:cs typeface="Cambria"/>
              <a:sym typeface="Cambria"/>
            </a:endParaRPr>
          </a:p>
          <a:p>
            <a:pPr marL="191770" marR="31115" lvl="0" indent="-179705" algn="l" rtl="0">
              <a:lnSpc>
                <a:spcPct val="107692"/>
              </a:lnSpc>
              <a:spcBef>
                <a:spcPts val="1035"/>
              </a:spcBef>
              <a:spcAft>
                <a:spcPts val="0"/>
              </a:spcAft>
              <a:buClr>
                <a:srgbClr val="444444"/>
              </a:buClr>
              <a:buSzPct val="100000"/>
              <a:buFont typeface="Arial"/>
              <a:buChar char="•"/>
            </a:pPr>
            <a:r>
              <a:rPr lang="en-US" sz="2600" b="1">
                <a:solidFill>
                  <a:srgbClr val="444444"/>
                </a:solidFill>
                <a:latin typeface="Cambria"/>
                <a:ea typeface="Cambria"/>
                <a:cs typeface="Cambria"/>
                <a:sym typeface="Cambria"/>
              </a:rPr>
              <a:t>getType()– </a:t>
            </a:r>
            <a:r>
              <a:rPr lang="en-US" sz="2600">
                <a:solidFill>
                  <a:srgbClr val="444444"/>
                </a:solidFill>
                <a:latin typeface="Cambria"/>
                <a:ea typeface="Cambria"/>
                <a:cs typeface="Cambria"/>
                <a:sym typeface="Cambria"/>
              </a:rPr>
              <a:t>It returns the Multipurpose Internet Mail Extension type of data to the given Content URI.</a:t>
            </a:r>
            <a:endParaRPr sz="2600">
              <a:latin typeface="Cambria"/>
              <a:ea typeface="Cambria"/>
              <a:cs typeface="Cambria"/>
              <a:sym typeface="Cambria"/>
            </a:endParaRPr>
          </a:p>
          <a:p>
            <a:pPr marL="228600" lvl="0" indent="-77470" algn="l" rtl="0">
              <a:lnSpc>
                <a:spcPct val="90000"/>
              </a:lnSpc>
              <a:spcBef>
                <a:spcPts val="1000"/>
              </a:spcBef>
              <a:spcAft>
                <a:spcPts val="0"/>
              </a:spcAft>
              <a:buClr>
                <a:schemeClr val="dk1"/>
              </a:buClr>
              <a:buSzPct val="100000"/>
              <a:buNone/>
            </a:pPr>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Broadcast Receiver</a:t>
            </a:r>
            <a:endParaRPr sz="2400" b="1">
              <a:latin typeface="Cambria"/>
              <a:ea typeface="Cambria"/>
              <a:cs typeface="Cambria"/>
              <a:sym typeface="Cambria"/>
            </a:endParaRPr>
          </a:p>
        </p:txBody>
      </p:sp>
      <p:sp>
        <p:nvSpPr>
          <p:cNvPr id="316" name="Google Shape;316;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95275" marR="5080" lvl="0" indent="-283845" algn="l" rtl="0">
              <a:lnSpc>
                <a:spcPct val="91100"/>
              </a:lnSpc>
              <a:spcBef>
                <a:spcPts val="0"/>
              </a:spcBef>
              <a:spcAft>
                <a:spcPts val="0"/>
              </a:spcAft>
              <a:buClr>
                <a:srgbClr val="000000"/>
              </a:buClr>
              <a:buSzPts val="2000"/>
              <a:buFont typeface="Arial"/>
              <a:buChar char="•"/>
            </a:pPr>
            <a:r>
              <a:rPr lang="en-US" sz="2000">
                <a:solidFill>
                  <a:srgbClr val="000000"/>
                </a:solidFill>
                <a:latin typeface="Cambria"/>
                <a:ea typeface="Cambria"/>
                <a:cs typeface="Cambria"/>
                <a:sym typeface="Cambria"/>
              </a:rPr>
              <a:t>Broadcast Receiver is a component that responds to broadcast messages from another application or the same system.</a:t>
            </a:r>
            <a:endParaRPr/>
          </a:p>
          <a:p>
            <a:pPr marL="295275" marR="5080" lvl="0" indent="-283845" algn="l" rtl="0">
              <a:lnSpc>
                <a:spcPct val="91100"/>
              </a:lnSpc>
              <a:spcBef>
                <a:spcPts val="365"/>
              </a:spcBef>
              <a:spcAft>
                <a:spcPts val="0"/>
              </a:spcAft>
              <a:buClr>
                <a:srgbClr val="000000"/>
              </a:buClr>
              <a:buSzPts val="2000"/>
              <a:buFont typeface="Arial"/>
              <a:buChar char="•"/>
            </a:pPr>
            <a:r>
              <a:rPr lang="en-US" sz="2000">
                <a:solidFill>
                  <a:srgbClr val="000000"/>
                </a:solidFill>
                <a:latin typeface="Cambria"/>
                <a:ea typeface="Cambria"/>
                <a:cs typeface="Cambria"/>
                <a:sym typeface="Cambria"/>
              </a:rPr>
              <a:t> It can also deliver broadcasts to applications that are not running. For example – notify the user that the battery is low.</a:t>
            </a:r>
            <a:endParaRPr/>
          </a:p>
          <a:p>
            <a:pPr marL="295275" marR="5080" lvl="0" indent="-283845" algn="l" rtl="0">
              <a:lnSpc>
                <a:spcPct val="91100"/>
              </a:lnSpc>
              <a:spcBef>
                <a:spcPts val="365"/>
              </a:spcBef>
              <a:spcAft>
                <a:spcPts val="0"/>
              </a:spcAft>
              <a:buClr>
                <a:srgbClr val="000000"/>
              </a:buClr>
              <a:buSzPts val="2000"/>
              <a:buFont typeface="Arial"/>
              <a:buChar char="•"/>
            </a:pPr>
            <a:r>
              <a:rPr lang="en-US" sz="2000">
                <a:solidFill>
                  <a:srgbClr val="000000"/>
                </a:solidFill>
                <a:latin typeface="Cambria"/>
                <a:ea typeface="Cambria"/>
                <a:cs typeface="Cambria"/>
                <a:sym typeface="Cambria"/>
              </a:rPr>
              <a:t> Android developers can use broadcast messages in the application or outside the normal flow.</a:t>
            </a:r>
            <a:endParaRPr sz="2000">
              <a:latin typeface="Cambria"/>
              <a:ea typeface="Cambria"/>
              <a:cs typeface="Cambria"/>
              <a:sym typeface="Cambria"/>
            </a:endParaRPr>
          </a:p>
          <a:p>
            <a:pPr marL="295275" lvl="0" indent="-283210" algn="l" rtl="0">
              <a:lnSpc>
                <a:spcPct val="100000"/>
              </a:lnSpc>
              <a:spcBef>
                <a:spcPts val="300"/>
              </a:spcBef>
              <a:spcAft>
                <a:spcPts val="0"/>
              </a:spcAft>
              <a:buClr>
                <a:srgbClr val="000000"/>
              </a:buClr>
              <a:buSzPts val="2000"/>
              <a:buFont typeface="Arial"/>
              <a:buChar char="•"/>
            </a:pPr>
            <a:r>
              <a:rPr lang="en-US" sz="2000">
                <a:solidFill>
                  <a:srgbClr val="000000"/>
                </a:solidFill>
                <a:latin typeface="Cambria"/>
                <a:ea typeface="Cambria"/>
                <a:cs typeface="Cambria"/>
                <a:sym typeface="Cambria"/>
              </a:rPr>
              <a:t>To implement this, extend Broadcast Receiver to your receiver:</a:t>
            </a:r>
            <a:endParaRPr sz="2000">
              <a:latin typeface="Cambria"/>
              <a:ea typeface="Cambria"/>
              <a:cs typeface="Cambria"/>
              <a:sym typeface="Cambria"/>
            </a:endParaRPr>
          </a:p>
          <a:p>
            <a:pPr marL="228600" lvl="0" indent="-50800" algn="l" rtl="0">
              <a:lnSpc>
                <a:spcPct val="90000"/>
              </a:lnSpc>
              <a:spcBef>
                <a:spcPts val="1000"/>
              </a:spcBef>
              <a:spcAft>
                <a:spcPts val="0"/>
              </a:spcAft>
              <a:buClr>
                <a:schemeClr val="dk1"/>
              </a:buClr>
              <a:buSzPts val="2800"/>
              <a:buNone/>
            </a:pPr>
            <a:endParaRPr/>
          </a:p>
        </p:txBody>
      </p:sp>
      <p:pic>
        <p:nvPicPr>
          <p:cNvPr id="317" name="Google Shape;317;p31"/>
          <p:cNvPicPr preferRelativeResize="0"/>
          <p:nvPr/>
        </p:nvPicPr>
        <p:blipFill rotWithShape="1">
          <a:blip r:embed="rId3">
            <a:alphaModFix/>
          </a:blip>
          <a:srcRect/>
          <a:stretch/>
        </p:blipFill>
        <p:spPr>
          <a:xfrm>
            <a:off x="3514646" y="4669009"/>
            <a:ext cx="5786627" cy="890016"/>
          </a:xfrm>
          <a:prstGeom prst="rect">
            <a:avLst/>
          </a:prstGeom>
          <a:noFill/>
          <a:ln>
            <a:noFill/>
          </a:ln>
        </p:spPr>
      </p:pic>
      <p:pic>
        <p:nvPicPr>
          <p:cNvPr id="6" name="Picture 5"/>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2"/>
          <p:cNvSpPr txBox="1">
            <a:spLocks noGrp="1"/>
          </p:cNvSpPr>
          <p:nvPr>
            <p:ph type="title"/>
          </p:nvPr>
        </p:nvSpPr>
        <p:spPr>
          <a:xfrm>
            <a:off x="838200" y="33699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Broadcast Receiver</a:t>
            </a:r>
            <a:endParaRPr sz="2400" b="1">
              <a:latin typeface="Cambria"/>
              <a:ea typeface="Cambria"/>
              <a:cs typeface="Cambria"/>
              <a:sym typeface="Cambria"/>
            </a:endParaRPr>
          </a:p>
        </p:txBody>
      </p:sp>
      <p:pic>
        <p:nvPicPr>
          <p:cNvPr id="324" name="Google Shape;324;p32"/>
          <p:cNvPicPr preferRelativeResize="0">
            <a:picLocks noGrp="1"/>
          </p:cNvPicPr>
          <p:nvPr>
            <p:ph type="body" idx="1"/>
          </p:nvPr>
        </p:nvPicPr>
        <p:blipFill rotWithShape="1">
          <a:blip r:embed="rId3">
            <a:alphaModFix/>
          </a:blip>
          <a:srcRect/>
          <a:stretch/>
        </p:blipFill>
        <p:spPr>
          <a:xfrm>
            <a:off x="3290887" y="2753519"/>
            <a:ext cx="5610225" cy="2495550"/>
          </a:xfrm>
          <a:prstGeom prst="rect">
            <a:avLst/>
          </a:prstGeom>
          <a:solidFill>
            <a:srgbClr val="ECECEC"/>
          </a:solidFill>
          <a:ln w="190500" cap="sq" cmpd="sng">
            <a:solidFill>
              <a:srgbClr val="FFFFFF"/>
            </a:solidFill>
            <a:prstDash val="solid"/>
            <a:miter lim="800000"/>
            <a:headEnd type="none" w="sm" len="sm"/>
            <a:tailEnd type="none" w="sm" len="sm"/>
          </a:ln>
          <a:effectLst>
            <a:outerShdw blurRad="65000" dist="50800" dir="12900000" kx="195000" ky="145000" algn="tl" rotWithShape="0">
              <a:srgbClr val="000000">
                <a:alpha val="29803"/>
              </a:srgbClr>
            </a:outerShdw>
          </a:effectLst>
        </p:spPr>
      </p:pic>
      <p:sp>
        <p:nvSpPr>
          <p:cNvPr id="325" name="Google Shape;325;p32"/>
          <p:cNvSpPr txBo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95910" marR="5080" lvl="0" indent="-283844" algn="l" rtl="0">
              <a:lnSpc>
                <a:spcPct val="99000"/>
              </a:lnSpc>
              <a:spcBef>
                <a:spcPts val="0"/>
              </a:spcBef>
              <a:spcAft>
                <a:spcPts val="0"/>
              </a:spcAft>
              <a:buClr>
                <a:schemeClr val="accent1"/>
              </a:buClr>
              <a:buSzPts val="2000"/>
              <a:buFont typeface="Arial"/>
              <a:buChar char="•"/>
            </a:pPr>
            <a:r>
              <a:rPr lang="en-US" sz="2000" b="0" i="0" u="none" strike="noStrike" cap="none">
                <a:solidFill>
                  <a:schemeClr val="dk1"/>
                </a:solidFill>
                <a:latin typeface="Cambria"/>
                <a:ea typeface="Cambria"/>
                <a:cs typeface="Cambria"/>
                <a:sym typeface="Cambria"/>
              </a:rPr>
              <a:t>Registering Broadcast Receiver in Android Manifest</a:t>
            </a:r>
            <a:endParaRPr/>
          </a:p>
          <a:p>
            <a:pPr marL="228600" marR="0" lvl="0" indent="-101600" algn="l" rtl="0">
              <a:lnSpc>
                <a:spcPct val="120000"/>
              </a:lnSpc>
              <a:spcBef>
                <a:spcPts val="1000"/>
              </a:spcBef>
              <a:spcAft>
                <a:spcPts val="0"/>
              </a:spcAft>
              <a:buClr>
                <a:schemeClr val="accent1"/>
              </a:buClr>
              <a:buSzPts val="2000"/>
              <a:buFont typeface="Arial"/>
              <a:buNone/>
            </a:pPr>
            <a:endParaRPr sz="2000" b="0" i="0" u="none" strike="noStrike" cap="none">
              <a:solidFill>
                <a:schemeClr val="dk1"/>
              </a:solidFill>
              <a:latin typeface="Calibri"/>
              <a:ea typeface="Calibri"/>
              <a:cs typeface="Calibri"/>
              <a:sym typeface="Calibri"/>
            </a:endParaRPr>
          </a:p>
        </p:txBody>
      </p:sp>
      <p:pic>
        <p:nvPicPr>
          <p:cNvPr id="6" name="Picture 5"/>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Cambria"/>
              <a:buNone/>
            </a:pPr>
            <a:r>
              <a:rPr lang="en-US" sz="2000" b="1">
                <a:latin typeface="Cambria"/>
                <a:ea typeface="Cambria"/>
                <a:cs typeface="Cambria"/>
                <a:sym typeface="Cambria"/>
              </a:rPr>
              <a:t>Resource (res folder structure)</a:t>
            </a:r>
            <a:endParaRPr sz="2000" b="1">
              <a:latin typeface="Cambria"/>
              <a:ea typeface="Cambria"/>
              <a:cs typeface="Cambria"/>
              <a:sym typeface="Cambria"/>
            </a:endParaRPr>
          </a:p>
        </p:txBody>
      </p:sp>
      <p:pic>
        <p:nvPicPr>
          <p:cNvPr id="332" name="Google Shape;332;p33"/>
          <p:cNvPicPr preferRelativeResize="0">
            <a:picLocks noGrp="1"/>
          </p:cNvPicPr>
          <p:nvPr>
            <p:ph type="body" idx="1"/>
          </p:nvPr>
        </p:nvPicPr>
        <p:blipFill rotWithShape="1">
          <a:blip r:embed="rId3">
            <a:alphaModFix/>
          </a:blip>
          <a:srcRect/>
          <a:stretch/>
        </p:blipFill>
        <p:spPr>
          <a:xfrm>
            <a:off x="2822714" y="2077278"/>
            <a:ext cx="6798364" cy="3906079"/>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5" name="Picture 4"/>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String</a:t>
            </a:r>
            <a:endParaRPr sz="2400" b="1">
              <a:latin typeface="Cambria"/>
              <a:ea typeface="Cambria"/>
              <a:cs typeface="Cambria"/>
              <a:sym typeface="Cambria"/>
            </a:endParaRPr>
          </a:p>
        </p:txBody>
      </p:sp>
      <p:sp>
        <p:nvSpPr>
          <p:cNvPr id="339" name="Google Shape;339;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latin typeface="Cambria"/>
                <a:ea typeface="Cambria"/>
                <a:cs typeface="Cambria"/>
                <a:sym typeface="Cambria"/>
              </a:rPr>
              <a:t>One of the most important as well as widely used values file is the strings.xml due to its applicability in the Android project.</a:t>
            </a:r>
            <a:endParaRPr/>
          </a:p>
          <a:p>
            <a:pPr marL="228600" lvl="0" indent="-228600" algn="l"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 Basic function of the strings.xml is to define the strings in one file so that it is easy to use same string in different positions in the android project plus it makes the project looks less messy. We can also define an array in this file as well.</a:t>
            </a:r>
            <a:endParaRPr/>
          </a:p>
        </p:txBody>
      </p:sp>
      <p:pic>
        <p:nvPicPr>
          <p:cNvPr id="341" name="Google Shape;341;p34"/>
          <p:cNvPicPr preferRelativeResize="0"/>
          <p:nvPr/>
        </p:nvPicPr>
        <p:blipFill rotWithShape="1">
          <a:blip r:embed="rId3">
            <a:alphaModFix/>
          </a:blip>
          <a:srcRect/>
          <a:stretch/>
        </p:blipFill>
        <p:spPr>
          <a:xfrm>
            <a:off x="1951774" y="4189521"/>
            <a:ext cx="8288451" cy="2122379"/>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6" name="Picture 5"/>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Color</a:t>
            </a:r>
            <a:endParaRPr sz="2400" b="1">
              <a:latin typeface="Cambria"/>
              <a:ea typeface="Cambria"/>
              <a:cs typeface="Cambria"/>
              <a:sym typeface="Cambria"/>
            </a:endParaRPr>
          </a:p>
        </p:txBody>
      </p:sp>
      <p:sp>
        <p:nvSpPr>
          <p:cNvPr id="347" name="Google Shape;347;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latin typeface="Cambria"/>
                <a:ea typeface="Cambria"/>
                <a:cs typeface="Cambria"/>
                <a:sym typeface="Cambria"/>
              </a:rPr>
              <a:t>The </a:t>
            </a:r>
            <a:r>
              <a:rPr lang="en-US" sz="2000" i="1">
                <a:latin typeface="Cambria"/>
                <a:ea typeface="Cambria"/>
                <a:cs typeface="Cambria"/>
                <a:sym typeface="Cambria"/>
              </a:rPr>
              <a:t>colors.xml</a:t>
            </a:r>
            <a:r>
              <a:rPr lang="en-US" sz="2000">
                <a:latin typeface="Cambria"/>
                <a:ea typeface="Cambria"/>
                <a:cs typeface="Cambria"/>
                <a:sym typeface="Cambria"/>
              </a:rPr>
              <a:t> is an XML file that is used to store the colors for the resources. An Android project contains 3 essential colors namely:</a:t>
            </a:r>
            <a:endParaRPr/>
          </a:p>
          <a:p>
            <a:pPr marL="228600" lvl="0" indent="-228600" algn="l" rtl="0">
              <a:lnSpc>
                <a:spcPct val="90000"/>
              </a:lnSpc>
              <a:spcBef>
                <a:spcPts val="1000"/>
              </a:spcBef>
              <a:spcAft>
                <a:spcPts val="0"/>
              </a:spcAft>
              <a:buClr>
                <a:schemeClr val="dk1"/>
              </a:buClr>
              <a:buSzPts val="2000"/>
              <a:buFont typeface="Noto Sans Symbols"/>
              <a:buChar char="⮚"/>
            </a:pPr>
            <a:r>
              <a:rPr lang="en-US" sz="2000">
                <a:latin typeface="Cambria"/>
                <a:ea typeface="Cambria"/>
                <a:cs typeface="Cambria"/>
                <a:sym typeface="Cambria"/>
              </a:rPr>
              <a:t>colorPrimary</a:t>
            </a:r>
            <a:endParaRPr sz="2000">
              <a:latin typeface="Cambria"/>
              <a:ea typeface="Cambria"/>
              <a:cs typeface="Cambria"/>
              <a:sym typeface="Cambria"/>
            </a:endParaRPr>
          </a:p>
          <a:p>
            <a:pPr marL="228600" lvl="0" indent="-228600" algn="l" rtl="0">
              <a:lnSpc>
                <a:spcPct val="90000"/>
              </a:lnSpc>
              <a:spcBef>
                <a:spcPts val="1000"/>
              </a:spcBef>
              <a:spcAft>
                <a:spcPts val="0"/>
              </a:spcAft>
              <a:buClr>
                <a:schemeClr val="dk1"/>
              </a:buClr>
              <a:buSzPts val="2000"/>
              <a:buFont typeface="Noto Sans Symbols"/>
              <a:buChar char="⮚"/>
            </a:pPr>
            <a:r>
              <a:rPr lang="en-US" sz="2000">
                <a:latin typeface="Cambria"/>
                <a:ea typeface="Cambria"/>
                <a:cs typeface="Cambria"/>
                <a:sym typeface="Cambria"/>
              </a:rPr>
              <a:t>colorPrimaryDark</a:t>
            </a:r>
            <a:endParaRPr sz="2000">
              <a:latin typeface="Cambria"/>
              <a:ea typeface="Cambria"/>
              <a:cs typeface="Cambria"/>
              <a:sym typeface="Cambria"/>
            </a:endParaRPr>
          </a:p>
          <a:p>
            <a:pPr marL="228600" lvl="0" indent="-228600" algn="l" rtl="0">
              <a:lnSpc>
                <a:spcPct val="90000"/>
              </a:lnSpc>
              <a:spcBef>
                <a:spcPts val="1000"/>
              </a:spcBef>
              <a:spcAft>
                <a:spcPts val="0"/>
              </a:spcAft>
              <a:buClr>
                <a:schemeClr val="dk1"/>
              </a:buClr>
              <a:buSzPts val="2000"/>
              <a:buFont typeface="Noto Sans Symbols"/>
              <a:buChar char="⮚"/>
            </a:pPr>
            <a:r>
              <a:rPr lang="en-US" sz="2000">
                <a:latin typeface="Cambria"/>
                <a:ea typeface="Cambria"/>
                <a:cs typeface="Cambria"/>
                <a:sym typeface="Cambria"/>
              </a:rPr>
              <a:t>colorAccent</a:t>
            </a:r>
            <a:endParaRPr sz="2000">
              <a:latin typeface="Cambria"/>
              <a:ea typeface="Cambria"/>
              <a:cs typeface="Cambria"/>
              <a:sym typeface="Cambria"/>
            </a:endParaRPr>
          </a:p>
          <a:p>
            <a:pPr marL="228600" lvl="0" indent="-228600" algn="l"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These colors are used in some predefined resources of the Android studio as well. These colors need to be set opaque otherwise it could result in some exceptions to arise.</a:t>
            </a:r>
            <a:endParaRPr/>
          </a:p>
          <a:p>
            <a:pPr marL="228600" lvl="0" indent="-50800" algn="l" rtl="0">
              <a:lnSpc>
                <a:spcPct val="90000"/>
              </a:lnSpc>
              <a:spcBef>
                <a:spcPts val="1000"/>
              </a:spcBef>
              <a:spcAft>
                <a:spcPts val="0"/>
              </a:spcAft>
              <a:buClr>
                <a:schemeClr val="dk1"/>
              </a:buClr>
              <a:buSzPts val="2800"/>
              <a:buNone/>
            </a:pPr>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Color</a:t>
            </a:r>
            <a:endParaRPr sz="2400" b="1">
              <a:latin typeface="Cambria"/>
              <a:ea typeface="Cambria"/>
              <a:cs typeface="Cambria"/>
              <a:sym typeface="Cambria"/>
            </a:endParaRPr>
          </a:p>
        </p:txBody>
      </p:sp>
      <p:pic>
        <p:nvPicPr>
          <p:cNvPr id="354" name="Google Shape;354;p36"/>
          <p:cNvPicPr preferRelativeResize="0"/>
          <p:nvPr/>
        </p:nvPicPr>
        <p:blipFill rotWithShape="1">
          <a:blip r:embed="rId3">
            <a:alphaModFix/>
          </a:blip>
          <a:srcRect/>
          <a:stretch/>
        </p:blipFill>
        <p:spPr>
          <a:xfrm>
            <a:off x="3305103" y="1962122"/>
            <a:ext cx="5981691" cy="3902970"/>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5" name="Picture 4"/>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a:latin typeface="Cambria"/>
                <a:ea typeface="Cambria"/>
                <a:cs typeface="Cambria"/>
                <a:sym typeface="Cambria"/>
              </a:rPr>
              <a:t>Drawable</a:t>
            </a:r>
            <a:endParaRPr sz="2400" b="1">
              <a:latin typeface="Cambria"/>
              <a:ea typeface="Cambria"/>
              <a:cs typeface="Cambria"/>
              <a:sym typeface="Cambria"/>
            </a:endParaRPr>
          </a:p>
        </p:txBody>
      </p:sp>
      <p:sp>
        <p:nvSpPr>
          <p:cNvPr id="361" name="Google Shape;361;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000"/>
              <a:buChar char="•"/>
            </a:pPr>
            <a:r>
              <a:rPr lang="en-US" sz="2000">
                <a:latin typeface="Cambria"/>
                <a:ea typeface="Cambria"/>
                <a:cs typeface="Cambria"/>
                <a:sym typeface="Cambria"/>
              </a:rPr>
              <a:t>The</a:t>
            </a:r>
            <a:r>
              <a:rPr lang="en-US" sz="2000" b="1">
                <a:latin typeface="Cambria"/>
                <a:ea typeface="Cambria"/>
                <a:cs typeface="Cambria"/>
                <a:sym typeface="Cambria"/>
              </a:rPr>
              <a:t> resource folder</a:t>
            </a:r>
            <a:r>
              <a:rPr lang="en-US" sz="2000">
                <a:latin typeface="Cambria"/>
                <a:ea typeface="Cambria"/>
                <a:cs typeface="Cambria"/>
                <a:sym typeface="Cambria"/>
              </a:rPr>
              <a:t> is the most important folder because it contains all the non-code sources like images, XML layouts, UI strings for the android application.</a:t>
            </a:r>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Among them, the drawable folder contains the different types of images used for the development of the application. </a:t>
            </a:r>
            <a:endParaRPr sz="2000">
              <a:latin typeface="Cambria"/>
              <a:ea typeface="Cambria"/>
              <a:cs typeface="Cambria"/>
              <a:sym typeface="Cambria"/>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We need to add all the images to the drawable folder for the application development. Images are used in android applications to provide more user-friendly behavior &amp; functionality. </a:t>
            </a:r>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8"/>
          <p:cNvSpPr txBox="1">
            <a:spLocks noGrp="1"/>
          </p:cNvSpPr>
          <p:nvPr>
            <p:ph type="title"/>
          </p:nvPr>
        </p:nvSpPr>
        <p:spPr>
          <a:xfrm>
            <a:off x="868203" y="905790"/>
            <a:ext cx="10515600" cy="52326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Styles</a:t>
            </a:r>
            <a:br>
              <a:rPr lang="en-US" sz="2400" b="1" dirty="0">
                <a:latin typeface="Cambria"/>
                <a:ea typeface="Cambria"/>
                <a:cs typeface="Cambria"/>
                <a:sym typeface="Cambria"/>
              </a:rPr>
            </a:br>
            <a:endParaRPr sz="2400" b="1" dirty="0">
              <a:latin typeface="Cambria"/>
              <a:ea typeface="Cambria"/>
              <a:cs typeface="Cambria"/>
              <a:sym typeface="Cambria"/>
            </a:endParaRPr>
          </a:p>
        </p:txBody>
      </p:sp>
      <p:sp>
        <p:nvSpPr>
          <p:cNvPr id="368" name="Google Shape;368;p38"/>
          <p:cNvSpPr txBox="1">
            <a:spLocks noGrp="1"/>
          </p:cNvSpPr>
          <p:nvPr>
            <p:ph type="body" idx="1"/>
          </p:nvPr>
        </p:nvSpPr>
        <p:spPr>
          <a:xfrm>
            <a:off x="868203" y="1167423"/>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000"/>
              <a:buChar char="•"/>
            </a:pPr>
            <a:r>
              <a:rPr lang="en-US" sz="2000">
                <a:latin typeface="Cambria"/>
                <a:ea typeface="Cambria"/>
                <a:cs typeface="Cambria"/>
                <a:sym typeface="Cambria"/>
              </a:rPr>
              <a:t>Another important file in the values folder is the </a:t>
            </a:r>
            <a:r>
              <a:rPr lang="en-US" sz="2000" i="1">
                <a:latin typeface="Cambria"/>
                <a:ea typeface="Cambria"/>
                <a:cs typeface="Cambria"/>
                <a:sym typeface="Cambria"/>
              </a:rPr>
              <a:t>styles.xml</a:t>
            </a:r>
            <a:r>
              <a:rPr lang="en-US" sz="2000">
                <a:latin typeface="Cambria"/>
                <a:ea typeface="Cambria"/>
                <a:cs typeface="Cambria"/>
                <a:sym typeface="Cambria"/>
              </a:rPr>
              <a:t> where all the themes of the Android project are defined. </a:t>
            </a:r>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The base theme is given by default having the option to customize or make changes to the customized theme as well. </a:t>
            </a:r>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Every theme has a parent attribute which defines the base of the theme. There are a lot of options to choose from depending on the need of the Android project.</a:t>
            </a:r>
            <a:endParaRPr sz="2000">
              <a:latin typeface="Cambria"/>
              <a:ea typeface="Cambria"/>
              <a:cs typeface="Cambria"/>
              <a:sym typeface="Cambria"/>
            </a:endParaRPr>
          </a:p>
        </p:txBody>
      </p:sp>
      <p:pic>
        <p:nvPicPr>
          <p:cNvPr id="370" name="Google Shape;370;p38"/>
          <p:cNvPicPr preferRelativeResize="0"/>
          <p:nvPr/>
        </p:nvPicPr>
        <p:blipFill rotWithShape="1">
          <a:blip r:embed="rId3">
            <a:alphaModFix/>
          </a:blip>
          <a:srcRect/>
          <a:stretch/>
        </p:blipFill>
        <p:spPr>
          <a:xfrm>
            <a:off x="1995054" y="3629464"/>
            <a:ext cx="8183419" cy="2448063"/>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6" name="Picture 5"/>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9"/>
          <p:cNvSpPr txBox="1">
            <a:spLocks noGrp="1"/>
          </p:cNvSpPr>
          <p:nvPr>
            <p:ph type="title"/>
          </p:nvPr>
        </p:nvSpPr>
        <p:spPr>
          <a:xfrm>
            <a:off x="842818" y="108257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Styles – Using styles</a:t>
            </a:r>
            <a:br>
              <a:rPr lang="en-US" dirty="0"/>
            </a:br>
            <a:endParaRPr dirty="0"/>
          </a:p>
        </p:txBody>
      </p:sp>
      <p:pic>
        <p:nvPicPr>
          <p:cNvPr id="376" name="Google Shape;376;p39"/>
          <p:cNvPicPr preferRelativeResize="0"/>
          <p:nvPr/>
        </p:nvPicPr>
        <p:blipFill rotWithShape="1">
          <a:blip r:embed="rId3">
            <a:alphaModFix/>
          </a:blip>
          <a:srcRect/>
          <a:stretch/>
        </p:blipFill>
        <p:spPr>
          <a:xfrm>
            <a:off x="1810327" y="1928090"/>
            <a:ext cx="8580582" cy="4103255"/>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5" name="Picture 4"/>
          <p:cNvPicPr>
            <a:picLocks noChangeAspect="1"/>
          </p:cNvPicPr>
          <p:nvPr/>
        </p:nvPicPr>
        <p:blipFill>
          <a:blip r:embed="rId4"/>
          <a:stretch>
            <a:fillRect/>
          </a:stretch>
        </p:blipFill>
        <p:spPr>
          <a:xfrm>
            <a:off x="140677" y="61909"/>
            <a:ext cx="12051323" cy="71447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0"/>
          <p:cNvSpPr txBox="1">
            <a:spLocks noGrp="1"/>
          </p:cNvSpPr>
          <p:nvPr>
            <p:ph type="title"/>
          </p:nvPr>
        </p:nvSpPr>
        <p:spPr>
          <a:xfrm>
            <a:off x="838200" y="109537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Theme</a:t>
            </a:r>
            <a:br>
              <a:rPr lang="en-US" dirty="0"/>
            </a:br>
            <a:endParaRPr dirty="0"/>
          </a:p>
        </p:txBody>
      </p:sp>
      <p:sp>
        <p:nvSpPr>
          <p:cNvPr id="383" name="Google Shape;383;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000"/>
              <a:buChar char="•"/>
            </a:pPr>
            <a:r>
              <a:rPr lang="en-US" sz="2000">
                <a:latin typeface="Cambria"/>
                <a:ea typeface="Cambria"/>
                <a:cs typeface="Cambria"/>
                <a:sym typeface="Cambria"/>
              </a:rPr>
              <a:t>A theme is nothing but an Android style applied to an entire Activity or application, rather than an individual View.</a:t>
            </a:r>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Thus, when a style is applied as a theme, every </a:t>
            </a:r>
            <a:r>
              <a:rPr lang="en-US" sz="2000" b="1">
                <a:latin typeface="Cambria"/>
                <a:ea typeface="Cambria"/>
                <a:cs typeface="Cambria"/>
                <a:sym typeface="Cambria"/>
              </a:rPr>
              <a:t>View</a:t>
            </a:r>
            <a:r>
              <a:rPr lang="en-US" sz="2000">
                <a:latin typeface="Cambria"/>
                <a:ea typeface="Cambria"/>
                <a:cs typeface="Cambria"/>
                <a:sym typeface="Cambria"/>
              </a:rPr>
              <a:t> in the Activity or application will apply each style property that it supports. </a:t>
            </a:r>
            <a:endParaRPr sz="2000">
              <a:latin typeface="Cambria"/>
              <a:ea typeface="Cambria"/>
              <a:cs typeface="Cambria"/>
              <a:sym typeface="Cambria"/>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For example, you can apply the same </a:t>
            </a:r>
            <a:r>
              <a:rPr lang="en-US" sz="2000" b="1">
                <a:latin typeface="Cambria"/>
                <a:ea typeface="Cambria"/>
                <a:cs typeface="Cambria"/>
                <a:sym typeface="Cambria"/>
              </a:rPr>
              <a:t>CustomFontStyle</a:t>
            </a:r>
            <a:r>
              <a:rPr lang="en-US" sz="2000">
                <a:latin typeface="Cambria"/>
                <a:ea typeface="Cambria"/>
                <a:cs typeface="Cambria"/>
                <a:sym typeface="Cambria"/>
              </a:rPr>
              <a:t> style as a theme for an Activity and then all text inside that </a:t>
            </a:r>
            <a:r>
              <a:rPr lang="en-US" sz="2000" b="1">
                <a:latin typeface="Cambria"/>
                <a:ea typeface="Cambria"/>
                <a:cs typeface="Cambria"/>
                <a:sym typeface="Cambria"/>
              </a:rPr>
              <a:t>Activity</a:t>
            </a:r>
            <a:r>
              <a:rPr lang="en-US" sz="2000">
                <a:latin typeface="Cambria"/>
                <a:ea typeface="Cambria"/>
                <a:cs typeface="Cambria"/>
                <a:sym typeface="Cambria"/>
              </a:rPr>
              <a:t> will have green monospace font.</a:t>
            </a:r>
            <a:endParaRPr/>
          </a:p>
          <a:p>
            <a:pPr marL="228600" lvl="0" indent="-228600" algn="just" rtl="0">
              <a:lnSpc>
                <a:spcPct val="90000"/>
              </a:lnSpc>
              <a:spcBef>
                <a:spcPts val="1000"/>
              </a:spcBef>
              <a:spcAft>
                <a:spcPts val="0"/>
              </a:spcAft>
              <a:buClr>
                <a:schemeClr val="dk1"/>
              </a:buClr>
              <a:buSzPts val="2000"/>
              <a:buChar char="•"/>
            </a:pPr>
            <a:r>
              <a:rPr lang="en-US" sz="2000">
                <a:latin typeface="Cambria"/>
                <a:ea typeface="Cambria"/>
                <a:cs typeface="Cambria"/>
                <a:sym typeface="Cambria"/>
              </a:rPr>
              <a:t>To set a theme for all the activities of your application, open the </a:t>
            </a:r>
            <a:r>
              <a:rPr lang="en-US" sz="2000" b="1">
                <a:latin typeface="Cambria"/>
                <a:ea typeface="Cambria"/>
                <a:cs typeface="Cambria"/>
                <a:sym typeface="Cambria"/>
              </a:rPr>
              <a:t>AndroidManifest.xml</a:t>
            </a:r>
            <a:r>
              <a:rPr lang="en-US" sz="2000">
                <a:latin typeface="Cambria"/>
                <a:ea typeface="Cambria"/>
                <a:cs typeface="Cambria"/>
                <a:sym typeface="Cambria"/>
              </a:rPr>
              <a:t> file and edit the </a:t>
            </a:r>
            <a:r>
              <a:rPr lang="en-US" sz="2000" b="1">
                <a:latin typeface="Cambria"/>
                <a:ea typeface="Cambria"/>
                <a:cs typeface="Cambria"/>
                <a:sym typeface="Cambria"/>
              </a:rPr>
              <a:t>&lt;application&gt;</a:t>
            </a:r>
            <a:r>
              <a:rPr lang="en-US" sz="2000">
                <a:latin typeface="Cambria"/>
                <a:ea typeface="Cambria"/>
                <a:cs typeface="Cambria"/>
                <a:sym typeface="Cambria"/>
              </a:rPr>
              <a:t> tag to include the </a:t>
            </a:r>
            <a:r>
              <a:rPr lang="en-US" sz="2000" b="1">
                <a:latin typeface="Cambria"/>
                <a:ea typeface="Cambria"/>
                <a:cs typeface="Cambria"/>
                <a:sym typeface="Cambria"/>
              </a:rPr>
              <a:t>android:theme</a:t>
            </a:r>
            <a:r>
              <a:rPr lang="en-US" sz="2000">
                <a:latin typeface="Cambria"/>
                <a:ea typeface="Cambria"/>
                <a:cs typeface="Cambria"/>
                <a:sym typeface="Cambria"/>
              </a:rPr>
              <a:t> attribute with the style name. For example −</a:t>
            </a:r>
            <a:endParaRPr/>
          </a:p>
          <a:p>
            <a:pPr marL="228600" lvl="0" indent="-50800" algn="l" rtl="0">
              <a:lnSpc>
                <a:spcPct val="90000"/>
              </a:lnSpc>
              <a:spcBef>
                <a:spcPts val="1000"/>
              </a:spcBef>
              <a:spcAft>
                <a:spcPts val="0"/>
              </a:spcAft>
              <a:buClr>
                <a:schemeClr val="dk1"/>
              </a:buClr>
              <a:buSzPts val="2800"/>
              <a:buNone/>
            </a:pPr>
            <a:endParaRPr/>
          </a:p>
        </p:txBody>
      </p:sp>
      <p:pic>
        <p:nvPicPr>
          <p:cNvPr id="5" name="Picture 4"/>
          <p:cNvPicPr>
            <a:picLocks noChangeAspect="1"/>
          </p:cNvPicPr>
          <p:nvPr/>
        </p:nvPicPr>
        <p:blipFill>
          <a:blip r:embed="rId3"/>
          <a:stretch>
            <a:fillRect/>
          </a:stretch>
        </p:blipFill>
        <p:spPr>
          <a:xfrm>
            <a:off x="140677" y="143242"/>
            <a:ext cx="12051323" cy="71447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1"/>
          <p:cNvSpPr txBox="1">
            <a:spLocks noGrp="1"/>
          </p:cNvSpPr>
          <p:nvPr>
            <p:ph type="title"/>
          </p:nvPr>
        </p:nvSpPr>
        <p:spPr>
          <a:xfrm>
            <a:off x="284888" y="1211768"/>
            <a:ext cx="10164085" cy="487391"/>
          </a:xfrm>
          <a:prstGeom prst="rect">
            <a:avLst/>
          </a:prstGeom>
          <a:noFill/>
          <a:ln>
            <a:noFill/>
          </a:ln>
        </p:spPr>
        <p:txBody>
          <a:bodyPr spcFirstLastPara="1" wrap="square" lIns="0" tIns="116900" rIns="0" bIns="0" anchor="ctr" anchorCtr="0">
            <a:spAutoFit/>
          </a:bodyPr>
          <a:lstStyle/>
          <a:p>
            <a:pPr marL="492125" lvl="0" indent="0" algn="l" rtl="0">
              <a:lnSpc>
                <a:spcPct val="100000"/>
              </a:lnSpc>
              <a:spcBef>
                <a:spcPts val="0"/>
              </a:spcBef>
              <a:spcAft>
                <a:spcPts val="0"/>
              </a:spcAft>
              <a:buClr>
                <a:schemeClr val="dk1"/>
              </a:buClr>
              <a:buSzPts val="2400"/>
              <a:buFont typeface="Cambria"/>
              <a:buNone/>
            </a:pPr>
            <a:r>
              <a:rPr lang="en-US" sz="2400" b="1">
                <a:latin typeface="Cambria"/>
                <a:ea typeface="Cambria"/>
                <a:cs typeface="Cambria"/>
                <a:sym typeface="Cambria"/>
              </a:rPr>
              <a:t>Localization: Preparing an Application for Localization</a:t>
            </a:r>
            <a:endParaRPr sz="2400" b="1">
              <a:latin typeface="Cambria"/>
              <a:ea typeface="Cambria"/>
              <a:cs typeface="Cambria"/>
              <a:sym typeface="Cambria"/>
            </a:endParaRPr>
          </a:p>
        </p:txBody>
      </p:sp>
      <p:sp>
        <p:nvSpPr>
          <p:cNvPr id="390" name="Google Shape;390;p41"/>
          <p:cNvSpPr/>
          <p:nvPr/>
        </p:nvSpPr>
        <p:spPr>
          <a:xfrm>
            <a:off x="914400" y="2136339"/>
            <a:ext cx="9982200" cy="2862322"/>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000"/>
              <a:buFont typeface="Arial"/>
              <a:buChar char="•"/>
            </a:pPr>
            <a:r>
              <a:rPr lang="en-US" sz="2000" b="0" i="0" u="none" strike="noStrike" cap="none">
                <a:solidFill>
                  <a:schemeClr val="dk1"/>
                </a:solidFill>
                <a:latin typeface="Cambria"/>
                <a:ea typeface="Cambria"/>
                <a:cs typeface="Cambria"/>
                <a:sym typeface="Cambria"/>
              </a:rPr>
              <a:t>Localization is the process of adapting your application to support multiple languages and regions to reach a global audience. </a:t>
            </a:r>
            <a:endParaRPr/>
          </a:p>
          <a:p>
            <a:pPr marL="342900" marR="0" lvl="0" indent="-215900" algn="just" rtl="0">
              <a:spcBef>
                <a:spcPts val="0"/>
              </a:spcBef>
              <a:spcAft>
                <a:spcPts val="0"/>
              </a:spcAft>
              <a:buClr>
                <a:schemeClr val="dk1"/>
              </a:buClr>
              <a:buSzPts val="2000"/>
              <a:buFont typeface="Arial"/>
              <a:buNone/>
            </a:pPr>
            <a:endParaRPr sz="2000" b="0" i="0" u="none" strike="noStrike" cap="none">
              <a:solidFill>
                <a:schemeClr val="dk1"/>
              </a:solidFill>
              <a:latin typeface="Cambria"/>
              <a:ea typeface="Cambria"/>
              <a:cs typeface="Cambria"/>
              <a:sym typeface="Cambria"/>
            </a:endParaRPr>
          </a:p>
          <a:p>
            <a:pPr marL="342900" marR="0" lvl="0" indent="-342900" algn="just" rtl="0">
              <a:spcBef>
                <a:spcPts val="0"/>
              </a:spcBef>
              <a:spcAft>
                <a:spcPts val="0"/>
              </a:spcAft>
              <a:buClr>
                <a:schemeClr val="dk1"/>
              </a:buClr>
              <a:buSzPts val="2000"/>
              <a:buFont typeface="Arial"/>
              <a:buChar char="•"/>
            </a:pPr>
            <a:r>
              <a:rPr lang="en-US" sz="2000" b="0" i="0" u="none" strike="noStrike" cap="none">
                <a:solidFill>
                  <a:schemeClr val="dk1"/>
                </a:solidFill>
                <a:latin typeface="Cambria"/>
                <a:ea typeface="Cambria"/>
                <a:cs typeface="Cambria"/>
                <a:sym typeface="Cambria"/>
              </a:rPr>
              <a:t>This involves translating text, formatting dates, times, numbers, currencies, and other region-specific content.</a:t>
            </a:r>
            <a:endParaRPr/>
          </a:p>
          <a:p>
            <a:pPr marL="342900" marR="0" lvl="0" indent="-215900" algn="just" rtl="0">
              <a:spcBef>
                <a:spcPts val="0"/>
              </a:spcBef>
              <a:spcAft>
                <a:spcPts val="0"/>
              </a:spcAft>
              <a:buClr>
                <a:schemeClr val="dk1"/>
              </a:buClr>
              <a:buSzPts val="2000"/>
              <a:buFont typeface="Arial"/>
              <a:buNone/>
            </a:pPr>
            <a:endParaRPr sz="2000" b="0" i="0" u="none" strike="noStrike" cap="none">
              <a:solidFill>
                <a:schemeClr val="dk1"/>
              </a:solidFill>
              <a:latin typeface="Cambria"/>
              <a:ea typeface="Cambria"/>
              <a:cs typeface="Cambria"/>
              <a:sym typeface="Cambria"/>
            </a:endParaRPr>
          </a:p>
          <a:p>
            <a:pPr marL="342900" marR="0" lvl="0" indent="-342900" algn="just" rtl="0">
              <a:spcBef>
                <a:spcPts val="0"/>
              </a:spcBef>
              <a:spcAft>
                <a:spcPts val="0"/>
              </a:spcAft>
              <a:buClr>
                <a:schemeClr val="dk1"/>
              </a:buClr>
              <a:buSzPts val="2000"/>
              <a:buFont typeface="Arial"/>
              <a:buChar char="•"/>
            </a:pPr>
            <a:r>
              <a:rPr lang="en-US" sz="2000" b="0" i="0" u="none" strike="noStrike" cap="none">
                <a:solidFill>
                  <a:schemeClr val="dk1"/>
                </a:solidFill>
                <a:latin typeface="Cambria"/>
                <a:ea typeface="Cambria"/>
                <a:cs typeface="Cambria"/>
                <a:sym typeface="Cambria"/>
              </a:rPr>
              <a:t>In Android, localization is achieved by organizing application resources (like strings, layouts, images) into region-specific directories and allowing the system to load the appropriate resources based on the user's language and locale settings.</a:t>
            </a:r>
            <a:endParaRPr sz="2000" b="0" i="0" u="none" strike="noStrike" cap="none">
              <a:solidFill>
                <a:schemeClr val="dk1"/>
              </a:solidFill>
              <a:latin typeface="Cambria"/>
              <a:ea typeface="Cambria"/>
              <a:cs typeface="Cambria"/>
              <a:sym typeface="Cambria"/>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42"/>
          <p:cNvSpPr txBox="1">
            <a:spLocks noGrp="1"/>
          </p:cNvSpPr>
          <p:nvPr>
            <p:ph type="title"/>
          </p:nvPr>
        </p:nvSpPr>
        <p:spPr>
          <a:xfrm>
            <a:off x="172346" y="968072"/>
            <a:ext cx="10164085" cy="487391"/>
          </a:xfrm>
          <a:prstGeom prst="rect">
            <a:avLst/>
          </a:prstGeom>
          <a:noFill/>
          <a:ln>
            <a:noFill/>
          </a:ln>
        </p:spPr>
        <p:txBody>
          <a:bodyPr spcFirstLastPara="1" wrap="square" lIns="0" tIns="116900" rIns="0" bIns="0" anchor="ctr" anchorCtr="0">
            <a:spAutoFit/>
          </a:bodyPr>
          <a:lstStyle/>
          <a:p>
            <a:pPr marL="492125" lvl="0" indent="0" algn="l" rtl="0">
              <a:lnSpc>
                <a:spcPct val="10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Steps to Prepare an Android Application for Localization</a:t>
            </a:r>
            <a:endParaRPr sz="2400" b="1" dirty="0">
              <a:latin typeface="Cambria"/>
              <a:ea typeface="Cambria"/>
              <a:cs typeface="Cambria"/>
              <a:sym typeface="Cambria"/>
            </a:endParaRPr>
          </a:p>
        </p:txBody>
      </p:sp>
      <p:sp>
        <p:nvSpPr>
          <p:cNvPr id="397" name="Google Shape;397;p42"/>
          <p:cNvSpPr/>
          <p:nvPr/>
        </p:nvSpPr>
        <p:spPr>
          <a:xfrm>
            <a:off x="914400" y="2136339"/>
            <a:ext cx="9982200" cy="32316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chemeClr val="dk1"/>
                </a:solidFill>
                <a:latin typeface="Cambria"/>
                <a:ea typeface="Cambria"/>
                <a:cs typeface="Cambria"/>
                <a:sym typeface="Cambria"/>
              </a:rPr>
              <a:t>1. Use Resource Files for Text (Avoid Hardcoding)All user-visible strings should be defined in the res/values/strings.xml file. Avoid hardcoding strings directly in the code or layout files.</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mbria"/>
              <a:ea typeface="Cambria"/>
              <a:cs typeface="Cambria"/>
              <a:sym typeface="Cambria"/>
            </a:endParaRPr>
          </a:p>
          <a:p>
            <a:pPr marL="342900" marR="0" lvl="0" indent="-342900" algn="l" rtl="0">
              <a:spcBef>
                <a:spcPts val="0"/>
              </a:spcBef>
              <a:spcAft>
                <a:spcPts val="0"/>
              </a:spcAft>
              <a:buClr>
                <a:schemeClr val="dk1"/>
              </a:buClr>
              <a:buSzPts val="2000"/>
              <a:buFont typeface="Arial"/>
              <a:buChar char="•"/>
            </a:pPr>
            <a:r>
              <a:rPr lang="en-US" sz="2000" b="1">
                <a:solidFill>
                  <a:schemeClr val="dk1"/>
                </a:solidFill>
                <a:latin typeface="Cambria"/>
                <a:ea typeface="Cambria"/>
                <a:cs typeface="Cambria"/>
                <a:sym typeface="Cambria"/>
              </a:rPr>
              <a:t>XML code</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mbria"/>
              <a:ea typeface="Cambria"/>
              <a:cs typeface="Cambria"/>
              <a:sym typeface="Cambria"/>
            </a:endParaRPr>
          </a:p>
          <a:p>
            <a:pPr marL="342900" marR="0" lvl="0" indent="-342900" algn="l" rtl="0">
              <a:spcBef>
                <a:spcPts val="0"/>
              </a:spcBef>
              <a:spcAft>
                <a:spcPts val="0"/>
              </a:spcAft>
              <a:buClr>
                <a:schemeClr val="dk1"/>
              </a:buClr>
              <a:buSzPts val="2000"/>
              <a:buFont typeface="Arial"/>
              <a:buChar char="•"/>
            </a:pPr>
            <a:r>
              <a:rPr lang="en-US" sz="2000" b="1">
                <a:solidFill>
                  <a:schemeClr val="dk1"/>
                </a:solidFill>
                <a:latin typeface="Cambria"/>
                <a:ea typeface="Cambria"/>
                <a:cs typeface="Cambria"/>
                <a:sym typeface="Cambria"/>
              </a:rPr>
              <a:t>&lt;!-- res/values/strings.xml --&gt;</a:t>
            </a:r>
            <a:endParaRPr/>
          </a:p>
          <a:p>
            <a:pPr marL="342900" marR="0" lvl="0" indent="-342900" algn="l" rtl="0">
              <a:spcBef>
                <a:spcPts val="0"/>
              </a:spcBef>
              <a:spcAft>
                <a:spcPts val="0"/>
              </a:spcAft>
              <a:buClr>
                <a:schemeClr val="dk1"/>
              </a:buClr>
              <a:buSzPts val="2000"/>
              <a:buFont typeface="Arial"/>
              <a:buChar char="•"/>
            </a:pPr>
            <a:r>
              <a:rPr lang="en-US" sz="2000" b="1">
                <a:solidFill>
                  <a:schemeClr val="dk1"/>
                </a:solidFill>
                <a:latin typeface="Cambria"/>
                <a:ea typeface="Cambria"/>
                <a:cs typeface="Cambria"/>
                <a:sym typeface="Cambria"/>
              </a:rPr>
              <a:t>&lt;string name="app_name"&gt;My Application&lt;/string&gt;</a:t>
            </a:r>
            <a:endParaRPr/>
          </a:p>
          <a:p>
            <a:pPr marL="342900" marR="0" lvl="0" indent="-342900" algn="l" rtl="0">
              <a:spcBef>
                <a:spcPts val="0"/>
              </a:spcBef>
              <a:spcAft>
                <a:spcPts val="0"/>
              </a:spcAft>
              <a:buClr>
                <a:schemeClr val="dk1"/>
              </a:buClr>
              <a:buSzPts val="2000"/>
              <a:buFont typeface="Arial"/>
              <a:buChar char="•"/>
            </a:pPr>
            <a:r>
              <a:rPr lang="en-US" sz="2000" b="1">
                <a:solidFill>
                  <a:schemeClr val="dk1"/>
                </a:solidFill>
                <a:latin typeface="Cambria"/>
                <a:ea typeface="Cambria"/>
                <a:cs typeface="Cambria"/>
                <a:sym typeface="Cambria"/>
              </a:rPr>
              <a:t>&lt;string name="welcome_message"&gt;Welcome to My Application&lt;/string&gt;</a:t>
            </a:r>
            <a:endParaRPr/>
          </a:p>
          <a:p>
            <a:pPr marL="342900" marR="0" lvl="0" indent="-190500" algn="l"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3"/>
          <p:cNvSpPr txBox="1">
            <a:spLocks noGrp="1"/>
          </p:cNvSpPr>
          <p:nvPr>
            <p:ph type="title"/>
          </p:nvPr>
        </p:nvSpPr>
        <p:spPr>
          <a:xfrm>
            <a:off x="186414" y="1211768"/>
            <a:ext cx="10164085" cy="487391"/>
          </a:xfrm>
          <a:prstGeom prst="rect">
            <a:avLst/>
          </a:prstGeom>
          <a:noFill/>
          <a:ln>
            <a:noFill/>
          </a:ln>
        </p:spPr>
        <p:txBody>
          <a:bodyPr spcFirstLastPara="1" wrap="square" lIns="0" tIns="116900" rIns="0" bIns="0" anchor="ctr" anchorCtr="0">
            <a:spAutoFit/>
          </a:bodyPr>
          <a:lstStyle/>
          <a:p>
            <a:pPr marL="492125" lvl="0" indent="0" algn="l" rtl="0">
              <a:lnSpc>
                <a:spcPct val="10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Steps to Prepare an Android Application for Localization</a:t>
            </a:r>
            <a:endParaRPr sz="2400" b="1" dirty="0">
              <a:latin typeface="Cambria"/>
              <a:ea typeface="Cambria"/>
              <a:cs typeface="Cambria"/>
              <a:sym typeface="Cambria"/>
            </a:endParaRPr>
          </a:p>
        </p:txBody>
      </p:sp>
      <p:sp>
        <p:nvSpPr>
          <p:cNvPr id="404" name="Google Shape;404;p43"/>
          <p:cNvSpPr/>
          <p:nvPr/>
        </p:nvSpPr>
        <p:spPr>
          <a:xfrm>
            <a:off x="914400" y="2136339"/>
            <a:ext cx="9982200" cy="390876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Access these strings in</a:t>
            </a:r>
            <a:endParaRPr/>
          </a:p>
          <a:p>
            <a:pPr marL="0" marR="0" lvl="0" indent="0" algn="just" rtl="0">
              <a:spcBef>
                <a:spcPts val="0"/>
              </a:spcBef>
              <a:spcAft>
                <a:spcPts val="0"/>
              </a:spcAft>
              <a:buNone/>
            </a:pPr>
            <a:endParaRPr sz="2000">
              <a:solidFill>
                <a:schemeClr val="dk1"/>
              </a:solidFill>
              <a:latin typeface="Cambria"/>
              <a:ea typeface="Cambria"/>
              <a:cs typeface="Cambria"/>
              <a:sym typeface="Cambria"/>
            </a:endParaRPr>
          </a:p>
          <a:p>
            <a:pPr marL="0" marR="0" lvl="0" indent="0" algn="just" rtl="0">
              <a:spcBef>
                <a:spcPts val="0"/>
              </a:spcBef>
              <a:spcAft>
                <a:spcPts val="0"/>
              </a:spcAft>
              <a:buNone/>
            </a:pPr>
            <a:r>
              <a:rPr lang="en-US" sz="2000">
                <a:solidFill>
                  <a:schemeClr val="dk1"/>
                </a:solidFill>
                <a:latin typeface="Cambria"/>
                <a:ea typeface="Cambria"/>
                <a:cs typeface="Cambria"/>
                <a:sym typeface="Cambria"/>
              </a:rPr>
              <a:t>Java code</a:t>
            </a:r>
            <a:endParaRPr/>
          </a:p>
          <a:p>
            <a:pPr marL="342900" marR="0" lvl="0" indent="-342900" algn="just" rtl="0">
              <a:spcBef>
                <a:spcPts val="0"/>
              </a:spcBef>
              <a:spcAft>
                <a:spcPts val="0"/>
              </a:spcAft>
              <a:buClr>
                <a:schemeClr val="dk1"/>
              </a:buClr>
              <a:buSzPts val="2000"/>
              <a:buFont typeface="Arial"/>
              <a:buChar char="•"/>
            </a:pPr>
            <a:r>
              <a:rPr lang="en-US" sz="2000" b="1">
                <a:solidFill>
                  <a:schemeClr val="dk1"/>
                </a:solidFill>
                <a:latin typeface="Cambria"/>
                <a:ea typeface="Cambria"/>
                <a:cs typeface="Cambria"/>
                <a:sym typeface="Cambria"/>
              </a:rPr>
              <a:t>String welcomeMessage = getString(R.string.welcome_message);</a:t>
            </a:r>
            <a:endParaRPr/>
          </a:p>
          <a:p>
            <a:pPr marL="0" marR="0" lvl="0" indent="0" algn="just" rtl="0">
              <a:spcBef>
                <a:spcPts val="0"/>
              </a:spcBef>
              <a:spcAft>
                <a:spcPts val="0"/>
              </a:spcAft>
              <a:buNone/>
            </a:pPr>
            <a:endParaRPr sz="2000">
              <a:solidFill>
                <a:schemeClr val="dk1"/>
              </a:solidFill>
              <a:latin typeface="Cambria"/>
              <a:ea typeface="Cambria"/>
              <a:cs typeface="Cambria"/>
              <a:sym typeface="Cambria"/>
            </a:endParaRPr>
          </a:p>
          <a:p>
            <a:pPr marL="0" marR="0" lvl="0" indent="0" algn="just" rtl="0">
              <a:spcBef>
                <a:spcPts val="0"/>
              </a:spcBef>
              <a:spcAft>
                <a:spcPts val="0"/>
              </a:spcAft>
              <a:buNone/>
            </a:pPr>
            <a:r>
              <a:rPr lang="en-US" sz="2000">
                <a:solidFill>
                  <a:schemeClr val="dk1"/>
                </a:solidFill>
                <a:latin typeface="Cambria"/>
                <a:ea typeface="Cambria"/>
                <a:cs typeface="Cambria"/>
                <a:sym typeface="Cambria"/>
              </a:rPr>
              <a:t>XML code</a:t>
            </a:r>
            <a:endParaRPr/>
          </a:p>
          <a:p>
            <a:pPr marL="342900" marR="0" lvl="0" indent="-342900" algn="just" rtl="0">
              <a:spcBef>
                <a:spcPts val="0"/>
              </a:spcBef>
              <a:spcAft>
                <a:spcPts val="0"/>
              </a:spcAft>
              <a:buClr>
                <a:schemeClr val="dk1"/>
              </a:buClr>
              <a:buSzPts val="2000"/>
              <a:buFont typeface="Arial"/>
              <a:buChar char="•"/>
            </a:pPr>
            <a:r>
              <a:rPr lang="en-US" sz="2000" b="1">
                <a:solidFill>
                  <a:schemeClr val="dk1"/>
                </a:solidFill>
                <a:latin typeface="Cambria"/>
                <a:ea typeface="Cambria"/>
                <a:cs typeface="Cambria"/>
                <a:sym typeface="Cambria"/>
              </a:rPr>
              <a:t>&lt;TextView</a:t>
            </a:r>
            <a:endParaRPr sz="2000" b="1">
              <a:solidFill>
                <a:schemeClr val="dk1"/>
              </a:solidFill>
              <a:latin typeface="Cambria"/>
              <a:ea typeface="Cambria"/>
              <a:cs typeface="Cambria"/>
              <a:sym typeface="Cambria"/>
            </a:endParaRPr>
          </a:p>
          <a:p>
            <a:pPr marL="342900" marR="0" lvl="0" indent="-342900" algn="just" rtl="0">
              <a:spcBef>
                <a:spcPts val="0"/>
              </a:spcBef>
              <a:spcAft>
                <a:spcPts val="0"/>
              </a:spcAft>
              <a:buClr>
                <a:schemeClr val="dk1"/>
              </a:buClr>
              <a:buSzPts val="2000"/>
              <a:buFont typeface="Arial"/>
              <a:buChar char="•"/>
            </a:pPr>
            <a:r>
              <a:rPr lang="en-US" sz="2000" b="1">
                <a:solidFill>
                  <a:schemeClr val="dk1"/>
                </a:solidFill>
                <a:latin typeface="Cambria"/>
                <a:ea typeface="Cambria"/>
                <a:cs typeface="Cambria"/>
                <a:sym typeface="Cambria"/>
              </a:rPr>
              <a:t>    android:text="@string/welcome_message"</a:t>
            </a:r>
            <a:endParaRPr/>
          </a:p>
          <a:p>
            <a:pPr marL="342900" marR="0" lvl="0" indent="-342900" algn="just" rtl="0">
              <a:spcBef>
                <a:spcPts val="0"/>
              </a:spcBef>
              <a:spcAft>
                <a:spcPts val="0"/>
              </a:spcAft>
              <a:buClr>
                <a:schemeClr val="dk1"/>
              </a:buClr>
              <a:buSzPts val="2000"/>
              <a:buFont typeface="Arial"/>
              <a:buChar char="•"/>
            </a:pPr>
            <a:r>
              <a:rPr lang="en-US" sz="2000" b="1">
                <a:solidFill>
                  <a:schemeClr val="dk1"/>
                </a:solidFill>
                <a:latin typeface="Cambria"/>
                <a:ea typeface="Cambria"/>
                <a:cs typeface="Cambria"/>
                <a:sym typeface="Cambria"/>
              </a:rPr>
              <a:t>    android:layout_width="wrap_content"</a:t>
            </a:r>
            <a:endParaRPr/>
          </a:p>
          <a:p>
            <a:pPr marL="342900" marR="0" lvl="0" indent="-342900" algn="just" rtl="0">
              <a:spcBef>
                <a:spcPts val="0"/>
              </a:spcBef>
              <a:spcAft>
                <a:spcPts val="0"/>
              </a:spcAft>
              <a:buClr>
                <a:schemeClr val="dk1"/>
              </a:buClr>
              <a:buSzPts val="2000"/>
              <a:buFont typeface="Arial"/>
              <a:buChar char="•"/>
            </a:pPr>
            <a:r>
              <a:rPr lang="en-US" sz="2000" b="1">
                <a:solidFill>
                  <a:schemeClr val="dk1"/>
                </a:solidFill>
                <a:latin typeface="Cambria"/>
                <a:ea typeface="Cambria"/>
                <a:cs typeface="Cambria"/>
                <a:sym typeface="Cambria"/>
              </a:rPr>
              <a:t>    android:layout_height="wrap_content" /&gt;</a:t>
            </a:r>
            <a:endParaRPr/>
          </a:p>
          <a:p>
            <a:pPr marL="342900" marR="0" lvl="0" indent="-190500" algn="l"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342900" marR="0" lvl="0" indent="-190500" algn="l"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44"/>
          <p:cNvSpPr txBox="1">
            <a:spLocks noGrp="1"/>
          </p:cNvSpPr>
          <p:nvPr>
            <p:ph type="title"/>
          </p:nvPr>
        </p:nvSpPr>
        <p:spPr>
          <a:xfrm>
            <a:off x="186414" y="1069670"/>
            <a:ext cx="10164085" cy="487391"/>
          </a:xfrm>
          <a:prstGeom prst="rect">
            <a:avLst/>
          </a:prstGeom>
          <a:noFill/>
          <a:ln>
            <a:noFill/>
          </a:ln>
        </p:spPr>
        <p:txBody>
          <a:bodyPr spcFirstLastPara="1" wrap="square" lIns="0" tIns="116900" rIns="0" bIns="0" anchor="ctr" anchorCtr="0">
            <a:spAutoFit/>
          </a:bodyPr>
          <a:lstStyle/>
          <a:p>
            <a:pPr marL="492125" lvl="0" indent="0" algn="l" rtl="0">
              <a:lnSpc>
                <a:spcPct val="10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Steps to Prepare an Android Application for Localization</a:t>
            </a:r>
            <a:endParaRPr sz="2400" b="1" dirty="0">
              <a:latin typeface="Cambria"/>
              <a:ea typeface="Cambria"/>
              <a:cs typeface="Cambria"/>
              <a:sym typeface="Cambria"/>
            </a:endParaRPr>
          </a:p>
        </p:txBody>
      </p:sp>
      <p:sp>
        <p:nvSpPr>
          <p:cNvPr id="411" name="Google Shape;411;p44"/>
          <p:cNvSpPr/>
          <p:nvPr/>
        </p:nvSpPr>
        <p:spPr>
          <a:xfrm>
            <a:off x="914400" y="2136339"/>
            <a:ext cx="9982200" cy="29238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a:solidFill>
                  <a:schemeClr val="dk1"/>
                </a:solidFill>
                <a:latin typeface="Cambria"/>
                <a:ea typeface="Cambria"/>
                <a:cs typeface="Cambria"/>
                <a:sym typeface="Cambria"/>
              </a:rPr>
              <a:t>2. Create Language-Specific Resource FilesAndroid uses a flexible resource structure to support multiple languages. </a:t>
            </a:r>
            <a:endParaRPr/>
          </a:p>
          <a:p>
            <a:pPr marL="0" marR="0" lvl="0" indent="0" algn="just" rtl="0">
              <a:spcBef>
                <a:spcPts val="0"/>
              </a:spcBef>
              <a:spcAft>
                <a:spcPts val="0"/>
              </a:spcAft>
              <a:buNone/>
            </a:pPr>
            <a:endParaRPr sz="2000">
              <a:solidFill>
                <a:schemeClr val="dk1"/>
              </a:solidFill>
              <a:latin typeface="Cambria"/>
              <a:ea typeface="Cambria"/>
              <a:cs typeface="Cambria"/>
              <a:sym typeface="Cambria"/>
            </a:endParaRPr>
          </a:p>
          <a:p>
            <a:pPr marL="0" marR="0" lvl="0" indent="0" algn="just" rtl="0">
              <a:spcBef>
                <a:spcPts val="0"/>
              </a:spcBef>
              <a:spcAft>
                <a:spcPts val="0"/>
              </a:spcAft>
              <a:buNone/>
            </a:pPr>
            <a:r>
              <a:rPr lang="en-US" sz="2000">
                <a:solidFill>
                  <a:schemeClr val="dk1"/>
                </a:solidFill>
                <a:latin typeface="Cambria"/>
                <a:ea typeface="Cambria"/>
                <a:cs typeface="Cambria"/>
                <a:sym typeface="Cambria"/>
              </a:rPr>
              <a:t>For each language, create a separate strings.xml file in a language-specific folder.</a:t>
            </a:r>
            <a:endParaRPr/>
          </a:p>
          <a:p>
            <a:pPr marL="0" marR="0" lvl="0" indent="0" algn="just" rtl="0">
              <a:spcBef>
                <a:spcPts val="0"/>
              </a:spcBef>
              <a:spcAft>
                <a:spcPts val="0"/>
              </a:spcAft>
              <a:buNone/>
            </a:pPr>
            <a:endParaRPr sz="2000">
              <a:solidFill>
                <a:schemeClr val="dk1"/>
              </a:solidFill>
              <a:latin typeface="Cambria"/>
              <a:ea typeface="Cambria"/>
              <a:cs typeface="Cambria"/>
              <a:sym typeface="Cambria"/>
            </a:endParaRPr>
          </a:p>
          <a:p>
            <a:pPr marL="0" marR="0" lvl="0" indent="0" algn="just" rtl="0">
              <a:spcBef>
                <a:spcPts val="0"/>
              </a:spcBef>
              <a:spcAft>
                <a:spcPts val="0"/>
              </a:spcAft>
              <a:buNone/>
            </a:pPr>
            <a:r>
              <a:rPr lang="en-US" sz="2000">
                <a:solidFill>
                  <a:schemeClr val="dk1"/>
                </a:solidFill>
                <a:latin typeface="Cambria"/>
                <a:ea typeface="Cambria"/>
                <a:cs typeface="Cambria"/>
                <a:sym typeface="Cambria"/>
              </a:rPr>
              <a:t>Default language (English): </a:t>
            </a:r>
            <a:r>
              <a:rPr lang="en-US" sz="2000" b="1" i="1">
                <a:solidFill>
                  <a:schemeClr val="dk1"/>
                </a:solidFill>
                <a:latin typeface="Cambria"/>
                <a:ea typeface="Cambria"/>
                <a:cs typeface="Cambria"/>
                <a:sym typeface="Cambria"/>
              </a:rPr>
              <a:t>res/values/strings.xml</a:t>
            </a:r>
            <a:endParaRPr/>
          </a:p>
          <a:p>
            <a:pPr marL="0" marR="0" lvl="0" indent="0" algn="just" rtl="0">
              <a:spcBef>
                <a:spcPts val="0"/>
              </a:spcBef>
              <a:spcAft>
                <a:spcPts val="0"/>
              </a:spcAft>
              <a:buNone/>
            </a:pPr>
            <a:endParaRPr sz="2000" b="1" i="1">
              <a:solidFill>
                <a:schemeClr val="dk1"/>
              </a:solidFill>
              <a:latin typeface="Cambria"/>
              <a:ea typeface="Cambria"/>
              <a:cs typeface="Cambria"/>
              <a:sym typeface="Cambria"/>
            </a:endParaRPr>
          </a:p>
          <a:p>
            <a:pPr marL="0" marR="0" lvl="0" indent="0" algn="just" rtl="0">
              <a:spcBef>
                <a:spcPts val="0"/>
              </a:spcBef>
              <a:spcAft>
                <a:spcPts val="0"/>
              </a:spcAft>
              <a:buNone/>
            </a:pPr>
            <a:r>
              <a:rPr lang="en-US" sz="2000" b="1" i="1">
                <a:solidFill>
                  <a:schemeClr val="dk1"/>
                </a:solidFill>
                <a:latin typeface="Cambria"/>
                <a:ea typeface="Cambria"/>
                <a:cs typeface="Cambria"/>
                <a:sym typeface="Cambria"/>
              </a:rPr>
              <a:t>&lt;string name="welcome_message"&gt;Welcome&lt;/string&gt;</a:t>
            </a:r>
            <a:endParaRPr/>
          </a:p>
          <a:p>
            <a:pPr marL="0" marR="0" lvl="0" indent="0" algn="l" rtl="0">
              <a:spcBef>
                <a:spcPts val="0"/>
              </a:spcBef>
              <a:spcAft>
                <a:spcPts val="0"/>
              </a:spcAft>
              <a:buNone/>
            </a:pPr>
            <a:endParaRPr sz="2400" b="1" i="1">
              <a:solidFill>
                <a:schemeClr val="dk1"/>
              </a:solidFill>
              <a:latin typeface="Calibri"/>
              <a:ea typeface="Calibri"/>
              <a:cs typeface="Calibri"/>
              <a:sym typeface="Calibri"/>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5"/>
          <p:cNvSpPr txBox="1">
            <a:spLocks noGrp="1"/>
          </p:cNvSpPr>
          <p:nvPr>
            <p:ph type="title"/>
          </p:nvPr>
        </p:nvSpPr>
        <p:spPr>
          <a:xfrm>
            <a:off x="158279" y="999332"/>
            <a:ext cx="10164085" cy="487391"/>
          </a:xfrm>
          <a:prstGeom prst="rect">
            <a:avLst/>
          </a:prstGeom>
          <a:noFill/>
          <a:ln>
            <a:noFill/>
          </a:ln>
        </p:spPr>
        <p:txBody>
          <a:bodyPr spcFirstLastPara="1" wrap="square" lIns="0" tIns="116900" rIns="0" bIns="0" anchor="ctr" anchorCtr="0">
            <a:spAutoFit/>
          </a:bodyPr>
          <a:lstStyle/>
          <a:p>
            <a:pPr marL="492125" lvl="0" indent="0" algn="l" rtl="0">
              <a:lnSpc>
                <a:spcPct val="10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Steps to Prepare an Android Application for Localization</a:t>
            </a:r>
            <a:endParaRPr sz="2400" b="1" dirty="0">
              <a:latin typeface="Cambria"/>
              <a:ea typeface="Cambria"/>
              <a:cs typeface="Cambria"/>
              <a:sym typeface="Cambria"/>
            </a:endParaRPr>
          </a:p>
        </p:txBody>
      </p:sp>
      <p:sp>
        <p:nvSpPr>
          <p:cNvPr id="418" name="Google Shape;418;p45"/>
          <p:cNvSpPr/>
          <p:nvPr/>
        </p:nvSpPr>
        <p:spPr>
          <a:xfrm>
            <a:off x="990600" y="2133600"/>
            <a:ext cx="9982200" cy="427809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a:solidFill>
                  <a:schemeClr val="dk1"/>
                </a:solidFill>
                <a:latin typeface="Cambria"/>
                <a:ea typeface="Cambria"/>
                <a:cs typeface="Cambria"/>
                <a:sym typeface="Cambria"/>
              </a:rPr>
              <a:t>French localization: res/values-fr/strings.xml</a:t>
            </a:r>
            <a:endParaRPr/>
          </a:p>
          <a:p>
            <a:pPr marL="0" marR="0" lvl="0" indent="0" algn="just" rtl="0">
              <a:spcBef>
                <a:spcPts val="0"/>
              </a:spcBef>
              <a:spcAft>
                <a:spcPts val="0"/>
              </a:spcAft>
              <a:buNone/>
            </a:pPr>
            <a:endParaRPr sz="2000">
              <a:solidFill>
                <a:schemeClr val="dk1"/>
              </a:solidFill>
              <a:latin typeface="Cambria"/>
              <a:ea typeface="Cambria"/>
              <a:cs typeface="Cambria"/>
              <a:sym typeface="Cambria"/>
            </a:endParaRPr>
          </a:p>
          <a:p>
            <a:pPr marL="0" marR="0" lvl="0" indent="0" algn="just" rtl="0">
              <a:spcBef>
                <a:spcPts val="0"/>
              </a:spcBef>
              <a:spcAft>
                <a:spcPts val="0"/>
              </a:spcAft>
              <a:buNone/>
            </a:pPr>
            <a:r>
              <a:rPr lang="en-US" sz="2000" b="1" i="1">
                <a:solidFill>
                  <a:schemeClr val="dk1"/>
                </a:solidFill>
                <a:latin typeface="Cambria"/>
                <a:ea typeface="Cambria"/>
                <a:cs typeface="Cambria"/>
                <a:sym typeface="Cambria"/>
              </a:rPr>
              <a:t>&lt;string name="welcome_message"&gt;Bienvenue&lt;/string&gt;</a:t>
            </a:r>
            <a:endParaRPr/>
          </a:p>
          <a:p>
            <a:pPr marL="0" marR="0" lvl="0" indent="0" algn="just" rtl="0">
              <a:spcBef>
                <a:spcPts val="0"/>
              </a:spcBef>
              <a:spcAft>
                <a:spcPts val="0"/>
              </a:spcAft>
              <a:buNone/>
            </a:pPr>
            <a:endParaRPr sz="2000" b="1" i="1">
              <a:solidFill>
                <a:schemeClr val="dk1"/>
              </a:solidFill>
              <a:latin typeface="Cambria"/>
              <a:ea typeface="Cambria"/>
              <a:cs typeface="Cambria"/>
              <a:sym typeface="Cambria"/>
            </a:endParaRPr>
          </a:p>
          <a:p>
            <a:pPr marL="0" marR="0" lvl="0" indent="0" algn="just" rtl="0">
              <a:spcBef>
                <a:spcPts val="0"/>
              </a:spcBef>
              <a:spcAft>
                <a:spcPts val="0"/>
              </a:spcAft>
              <a:buNone/>
            </a:pPr>
            <a:r>
              <a:rPr lang="en-US" sz="2000">
                <a:solidFill>
                  <a:schemeClr val="dk1"/>
                </a:solidFill>
                <a:latin typeface="Cambria"/>
                <a:ea typeface="Cambria"/>
                <a:cs typeface="Cambria"/>
                <a:sym typeface="Cambria"/>
              </a:rPr>
              <a:t>Spanish localization: res/values-es/strings.xml</a:t>
            </a:r>
            <a:endParaRPr/>
          </a:p>
          <a:p>
            <a:pPr marL="0" marR="0" lvl="0" indent="0" algn="just" rtl="0">
              <a:spcBef>
                <a:spcPts val="0"/>
              </a:spcBef>
              <a:spcAft>
                <a:spcPts val="0"/>
              </a:spcAft>
              <a:buNone/>
            </a:pPr>
            <a:endParaRPr sz="2000">
              <a:solidFill>
                <a:schemeClr val="dk1"/>
              </a:solidFill>
              <a:latin typeface="Cambria"/>
              <a:ea typeface="Cambria"/>
              <a:cs typeface="Cambria"/>
              <a:sym typeface="Cambria"/>
            </a:endParaRPr>
          </a:p>
          <a:p>
            <a:pPr marL="0" marR="0" lvl="0" indent="0" algn="just" rtl="0">
              <a:spcBef>
                <a:spcPts val="0"/>
              </a:spcBef>
              <a:spcAft>
                <a:spcPts val="0"/>
              </a:spcAft>
              <a:buNone/>
            </a:pPr>
            <a:r>
              <a:rPr lang="en-US" sz="2000" b="1" i="1">
                <a:solidFill>
                  <a:schemeClr val="dk1"/>
                </a:solidFill>
                <a:latin typeface="Cambria"/>
                <a:ea typeface="Cambria"/>
                <a:cs typeface="Cambria"/>
                <a:sym typeface="Cambria"/>
              </a:rPr>
              <a:t>&lt;string name="welcome_message"&gt;Bienvenido&lt;/string&gt;</a:t>
            </a:r>
            <a:endParaRPr/>
          </a:p>
          <a:p>
            <a:pPr marL="0" marR="0" lvl="0" indent="0" algn="just" rtl="0">
              <a:spcBef>
                <a:spcPts val="0"/>
              </a:spcBef>
              <a:spcAft>
                <a:spcPts val="0"/>
              </a:spcAft>
              <a:buNone/>
            </a:pPr>
            <a:endParaRPr sz="2000" b="1" i="1">
              <a:solidFill>
                <a:schemeClr val="dk1"/>
              </a:solidFill>
              <a:latin typeface="Cambria"/>
              <a:ea typeface="Cambria"/>
              <a:cs typeface="Cambria"/>
              <a:sym typeface="Cambria"/>
            </a:endParaRPr>
          </a:p>
          <a:p>
            <a:pPr marL="0" marR="0" lvl="0" indent="0" algn="just" rtl="0">
              <a:spcBef>
                <a:spcPts val="0"/>
              </a:spcBef>
              <a:spcAft>
                <a:spcPts val="0"/>
              </a:spcAft>
              <a:buNone/>
            </a:pPr>
            <a:r>
              <a:rPr lang="en-US" sz="2000">
                <a:solidFill>
                  <a:schemeClr val="dk1"/>
                </a:solidFill>
                <a:latin typeface="Cambria"/>
                <a:ea typeface="Cambria"/>
                <a:cs typeface="Cambria"/>
                <a:sym typeface="Cambria"/>
              </a:rPr>
              <a:t>When a user’s device is set to a specific language, Android automatically loads the corresponding </a:t>
            </a:r>
            <a:r>
              <a:rPr lang="en-US" sz="2000" b="1" i="1">
                <a:solidFill>
                  <a:schemeClr val="dk1"/>
                </a:solidFill>
                <a:latin typeface="Cambria"/>
                <a:ea typeface="Cambria"/>
                <a:cs typeface="Cambria"/>
                <a:sym typeface="Cambria"/>
              </a:rPr>
              <a:t>strings.xml</a:t>
            </a:r>
            <a:r>
              <a:rPr lang="en-US" sz="2000">
                <a:solidFill>
                  <a:schemeClr val="dk1"/>
                </a:solidFill>
                <a:latin typeface="Cambria"/>
                <a:ea typeface="Cambria"/>
                <a:cs typeface="Cambria"/>
                <a:sym typeface="Cambria"/>
              </a:rPr>
              <a:t> file.</a:t>
            </a:r>
            <a:endParaRPr sz="2000" b="1" i="1">
              <a:solidFill>
                <a:schemeClr val="dk1"/>
              </a:solidFill>
              <a:latin typeface="Cambria"/>
              <a:ea typeface="Cambria"/>
              <a:cs typeface="Cambria"/>
              <a:sym typeface="Cambria"/>
            </a:endParaRPr>
          </a:p>
          <a:p>
            <a:pPr marL="0" marR="0" lvl="0" indent="0" algn="l" rtl="0">
              <a:spcBef>
                <a:spcPts val="0"/>
              </a:spcBef>
              <a:spcAft>
                <a:spcPts val="0"/>
              </a:spcAft>
              <a:buNone/>
            </a:pPr>
            <a:endParaRPr sz="2400" b="1" i="1">
              <a:solidFill>
                <a:schemeClr val="dk1"/>
              </a:solidFill>
              <a:latin typeface="Calibri"/>
              <a:ea typeface="Calibri"/>
              <a:cs typeface="Calibri"/>
              <a:sym typeface="Calibri"/>
            </a:endParaRPr>
          </a:p>
          <a:p>
            <a:pPr marL="0" marR="0" lvl="0" indent="0" algn="l" rtl="0">
              <a:spcBef>
                <a:spcPts val="0"/>
              </a:spcBef>
              <a:spcAft>
                <a:spcPts val="0"/>
              </a:spcAft>
              <a:buNone/>
            </a:pPr>
            <a:endParaRPr sz="2400" b="1" i="1">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46"/>
          <p:cNvSpPr txBox="1">
            <a:spLocks noGrp="1"/>
          </p:cNvSpPr>
          <p:nvPr>
            <p:ph type="title"/>
          </p:nvPr>
        </p:nvSpPr>
        <p:spPr>
          <a:xfrm>
            <a:off x="214549" y="1041535"/>
            <a:ext cx="10164085" cy="487391"/>
          </a:xfrm>
          <a:prstGeom prst="rect">
            <a:avLst/>
          </a:prstGeom>
          <a:noFill/>
          <a:ln>
            <a:noFill/>
          </a:ln>
        </p:spPr>
        <p:txBody>
          <a:bodyPr spcFirstLastPara="1" wrap="square" lIns="0" tIns="116900" rIns="0" bIns="0" anchor="ctr" anchorCtr="0">
            <a:spAutoFit/>
          </a:bodyPr>
          <a:lstStyle/>
          <a:p>
            <a:pPr marL="492125" lvl="0" indent="0" algn="l" rtl="0">
              <a:lnSpc>
                <a:spcPct val="10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Steps to Prepare an Android Application for Localization</a:t>
            </a:r>
            <a:endParaRPr sz="2400" b="1" dirty="0">
              <a:latin typeface="Cambria"/>
              <a:ea typeface="Cambria"/>
              <a:cs typeface="Cambria"/>
              <a:sym typeface="Cambria"/>
            </a:endParaRPr>
          </a:p>
        </p:txBody>
      </p:sp>
      <p:sp>
        <p:nvSpPr>
          <p:cNvPr id="425" name="Google Shape;425;p46"/>
          <p:cNvSpPr/>
          <p:nvPr/>
        </p:nvSpPr>
        <p:spPr>
          <a:xfrm>
            <a:off x="990600" y="2133600"/>
            <a:ext cx="9982200"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mbria"/>
                <a:ea typeface="Cambria"/>
                <a:cs typeface="Cambria"/>
                <a:sym typeface="Cambria"/>
              </a:rPr>
              <a:t>3. Organize Region-Specific Resources Localization isn't just about translating text. Images, layouts, or other resources might also need adaptation for different regions.</a:t>
            </a:r>
            <a:endParaRPr/>
          </a:p>
          <a:p>
            <a:pPr marL="0" marR="0" lvl="0" indent="0" algn="l" rtl="0">
              <a:spcBef>
                <a:spcPts val="0"/>
              </a:spcBef>
              <a:spcAft>
                <a:spcPts val="0"/>
              </a:spcAft>
              <a:buNone/>
            </a:pPr>
            <a:endParaRPr sz="2000">
              <a:solidFill>
                <a:schemeClr val="dk1"/>
              </a:solidFill>
              <a:latin typeface="Cambria"/>
              <a:ea typeface="Cambria"/>
              <a:cs typeface="Cambria"/>
              <a:sym typeface="Cambria"/>
            </a:endParaRPr>
          </a:p>
          <a:p>
            <a:pPr marL="0" marR="0" lvl="0" indent="0" algn="l" rtl="0">
              <a:spcBef>
                <a:spcPts val="0"/>
              </a:spcBef>
              <a:spcAft>
                <a:spcPts val="0"/>
              </a:spcAft>
              <a:buNone/>
            </a:pPr>
            <a:r>
              <a:rPr lang="en-US" sz="2000">
                <a:solidFill>
                  <a:schemeClr val="dk1"/>
                </a:solidFill>
                <a:latin typeface="Cambria"/>
                <a:ea typeface="Cambria"/>
                <a:cs typeface="Cambria"/>
                <a:sym typeface="Cambria"/>
              </a:rPr>
              <a:t>Example of localized resources:</a:t>
            </a:r>
            <a:endParaRPr/>
          </a:p>
          <a:p>
            <a:pPr marL="0" marR="0" lvl="0" indent="0" algn="l" rtl="0">
              <a:spcBef>
                <a:spcPts val="0"/>
              </a:spcBef>
              <a:spcAft>
                <a:spcPts val="0"/>
              </a:spcAft>
              <a:buNone/>
            </a:pPr>
            <a:endParaRPr sz="2000">
              <a:solidFill>
                <a:schemeClr val="dk1"/>
              </a:solidFill>
              <a:latin typeface="Cambria"/>
              <a:ea typeface="Cambria"/>
              <a:cs typeface="Cambria"/>
              <a:sym typeface="Cambria"/>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Default layout: res/layout/activity_main.xml</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Arabic layout (Right-to-Left): res/layout-ar/activity_main.xml</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Default drawable: res/drawable/logo.png</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Chinese drawable: res/drawable-zh/logo.png</a:t>
            </a:r>
            <a:endParaRPr sz="2000">
              <a:solidFill>
                <a:schemeClr val="dk1"/>
              </a:solidFill>
              <a:latin typeface="Cambria"/>
              <a:ea typeface="Cambria"/>
              <a:cs typeface="Cambria"/>
              <a:sym typeface="Cambria"/>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7"/>
          <p:cNvSpPr txBox="1">
            <a:spLocks noGrp="1"/>
          </p:cNvSpPr>
          <p:nvPr>
            <p:ph type="title"/>
          </p:nvPr>
        </p:nvSpPr>
        <p:spPr>
          <a:xfrm>
            <a:off x="172346" y="1083738"/>
            <a:ext cx="10164085" cy="487391"/>
          </a:xfrm>
          <a:prstGeom prst="rect">
            <a:avLst/>
          </a:prstGeom>
          <a:noFill/>
          <a:ln>
            <a:noFill/>
          </a:ln>
        </p:spPr>
        <p:txBody>
          <a:bodyPr spcFirstLastPara="1" wrap="square" lIns="0" tIns="116900" rIns="0" bIns="0" anchor="ctr" anchorCtr="0">
            <a:spAutoFit/>
          </a:bodyPr>
          <a:lstStyle/>
          <a:p>
            <a:pPr marL="492125" lvl="0" indent="0" algn="l" rtl="0">
              <a:lnSpc>
                <a:spcPct val="10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Steps to Prepare an Android Application for Localization</a:t>
            </a:r>
            <a:endParaRPr sz="2400" b="1" dirty="0">
              <a:latin typeface="Cambria"/>
              <a:ea typeface="Cambria"/>
              <a:cs typeface="Cambria"/>
              <a:sym typeface="Cambria"/>
            </a:endParaRPr>
          </a:p>
        </p:txBody>
      </p:sp>
      <p:sp>
        <p:nvSpPr>
          <p:cNvPr id="432" name="Google Shape;432;p47"/>
          <p:cNvSpPr/>
          <p:nvPr/>
        </p:nvSpPr>
        <p:spPr>
          <a:xfrm>
            <a:off x="990600" y="2133600"/>
            <a:ext cx="9982200" cy="38164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dk1"/>
                </a:solidFill>
                <a:latin typeface="Calibri"/>
                <a:ea typeface="Calibri"/>
                <a:cs typeface="Calibri"/>
                <a:sym typeface="Calibri"/>
              </a:rPr>
              <a:t>4</a:t>
            </a:r>
            <a:r>
              <a:rPr lang="en-US" sz="2000" b="1">
                <a:solidFill>
                  <a:schemeClr val="dk1"/>
                </a:solidFill>
                <a:latin typeface="Cambria"/>
                <a:ea typeface="Cambria"/>
                <a:cs typeface="Cambria"/>
                <a:sym typeface="Cambria"/>
              </a:rPr>
              <a:t>. Localize Date, Time, and Numbers </a:t>
            </a:r>
            <a:endParaRPr/>
          </a:p>
          <a:p>
            <a:pPr marL="0" marR="0" lvl="0" indent="0" algn="l" rtl="0">
              <a:spcBef>
                <a:spcPts val="0"/>
              </a:spcBef>
              <a:spcAft>
                <a:spcPts val="0"/>
              </a:spcAft>
              <a:buNone/>
            </a:pPr>
            <a:endParaRPr sz="2000" b="1">
              <a:solidFill>
                <a:schemeClr val="dk1"/>
              </a:solidFill>
              <a:latin typeface="Cambria"/>
              <a:ea typeface="Cambria"/>
              <a:cs typeface="Cambria"/>
              <a:sym typeface="Cambria"/>
            </a:endParaRPr>
          </a:p>
          <a:p>
            <a:pPr marL="0" marR="0" lvl="0" indent="0" algn="l" rtl="0">
              <a:spcBef>
                <a:spcPts val="0"/>
              </a:spcBef>
              <a:spcAft>
                <a:spcPts val="0"/>
              </a:spcAft>
              <a:buNone/>
            </a:pPr>
            <a:r>
              <a:rPr lang="en-US" sz="2000">
                <a:solidFill>
                  <a:schemeClr val="dk1"/>
                </a:solidFill>
                <a:latin typeface="Cambria"/>
                <a:ea typeface="Cambria"/>
                <a:cs typeface="Cambria"/>
                <a:sym typeface="Cambria"/>
              </a:rPr>
              <a:t>Android provides utilities to format dates, times, and numbers in a localized manner using the user's locale settings.</a:t>
            </a:r>
            <a:endParaRPr/>
          </a:p>
          <a:p>
            <a:pPr marL="0" marR="0" lvl="0" indent="0" algn="l" rtl="0">
              <a:spcBef>
                <a:spcPts val="0"/>
              </a:spcBef>
              <a:spcAft>
                <a:spcPts val="0"/>
              </a:spcAft>
              <a:buNone/>
            </a:pPr>
            <a:endParaRPr sz="2000" b="1">
              <a:solidFill>
                <a:schemeClr val="dk1"/>
              </a:solidFill>
              <a:latin typeface="Cambria"/>
              <a:ea typeface="Cambria"/>
              <a:cs typeface="Cambria"/>
              <a:sym typeface="Cambria"/>
            </a:endParaRPr>
          </a:p>
          <a:p>
            <a:pPr marL="342900" marR="0" lvl="0" indent="-342900" algn="l" rtl="0">
              <a:spcBef>
                <a:spcPts val="0"/>
              </a:spcBef>
              <a:spcAft>
                <a:spcPts val="0"/>
              </a:spcAft>
              <a:buClr>
                <a:schemeClr val="dk1"/>
              </a:buClr>
              <a:buSzPts val="2000"/>
              <a:buFont typeface="Arial"/>
              <a:buChar char="•"/>
            </a:pPr>
            <a:r>
              <a:rPr lang="en-US" sz="2000" b="1">
                <a:solidFill>
                  <a:schemeClr val="dk1"/>
                </a:solidFill>
                <a:latin typeface="Cambria"/>
                <a:ea typeface="Cambria"/>
                <a:cs typeface="Cambria"/>
                <a:sym typeface="Cambria"/>
              </a:rPr>
              <a:t>Example of localized date and time formatting</a:t>
            </a:r>
            <a:r>
              <a:rPr lang="en-US" sz="2000">
                <a:solidFill>
                  <a:schemeClr val="dk1"/>
                </a:solidFill>
                <a:latin typeface="Cambria"/>
                <a:ea typeface="Cambria"/>
                <a:cs typeface="Cambria"/>
                <a:sym typeface="Cambria"/>
              </a:rPr>
              <a:t>:</a:t>
            </a:r>
            <a:endParaRPr/>
          </a:p>
          <a:p>
            <a:pPr marL="0" marR="0" lvl="0" indent="0" algn="l" rtl="0">
              <a:spcBef>
                <a:spcPts val="0"/>
              </a:spcBef>
              <a:spcAft>
                <a:spcPts val="0"/>
              </a:spcAft>
              <a:buNone/>
            </a:pPr>
            <a:endParaRPr sz="2000">
              <a:solidFill>
                <a:schemeClr val="dk1"/>
              </a:solidFill>
              <a:latin typeface="Cambria"/>
              <a:ea typeface="Cambria"/>
              <a:cs typeface="Cambria"/>
              <a:sym typeface="Cambria"/>
            </a:endParaRPr>
          </a:p>
          <a:p>
            <a:pPr marL="0" marR="0" lvl="0" indent="0" algn="l" rtl="0">
              <a:spcBef>
                <a:spcPts val="0"/>
              </a:spcBef>
              <a:spcAft>
                <a:spcPts val="0"/>
              </a:spcAft>
              <a:buNone/>
            </a:pPr>
            <a:r>
              <a:rPr lang="en-US" sz="2000">
                <a:solidFill>
                  <a:schemeClr val="dk1"/>
                </a:solidFill>
                <a:latin typeface="Cambria"/>
                <a:ea typeface="Cambria"/>
                <a:cs typeface="Cambria"/>
                <a:sym typeface="Cambria"/>
              </a:rPr>
              <a:t>Locale currentLocale = Locale.getDefault();</a:t>
            </a:r>
            <a:endParaRPr/>
          </a:p>
          <a:p>
            <a:pPr marL="0" marR="0" lvl="0" indent="0" algn="l" rtl="0">
              <a:spcBef>
                <a:spcPts val="0"/>
              </a:spcBef>
              <a:spcAft>
                <a:spcPts val="0"/>
              </a:spcAft>
              <a:buNone/>
            </a:pPr>
            <a:r>
              <a:rPr lang="en-US" sz="2000">
                <a:solidFill>
                  <a:schemeClr val="dk1"/>
                </a:solidFill>
                <a:latin typeface="Cambria"/>
                <a:ea typeface="Cambria"/>
                <a:cs typeface="Cambria"/>
                <a:sym typeface="Cambria"/>
              </a:rPr>
              <a:t>DateFormat dateFormat = DateFormat.getDateInstance(DateFormat.LONG, currentLocale);</a:t>
            </a:r>
            <a:endParaRPr/>
          </a:p>
          <a:p>
            <a:pPr marL="0" marR="0" lvl="0" indent="0" algn="l" rtl="0">
              <a:spcBef>
                <a:spcPts val="0"/>
              </a:spcBef>
              <a:spcAft>
                <a:spcPts val="0"/>
              </a:spcAft>
              <a:buNone/>
            </a:pPr>
            <a:r>
              <a:rPr lang="en-US" sz="2000">
                <a:solidFill>
                  <a:schemeClr val="dk1"/>
                </a:solidFill>
                <a:latin typeface="Cambria"/>
                <a:ea typeface="Cambria"/>
                <a:cs typeface="Cambria"/>
                <a:sym typeface="Cambria"/>
              </a:rPr>
              <a:t>String formattedDate = dateFormat.format(new Date());</a:t>
            </a:r>
            <a:endParaRPr/>
          </a:p>
          <a:p>
            <a:pPr marL="0" marR="0" lvl="0" indent="0" algn="l" rtl="0">
              <a:spcBef>
                <a:spcPts val="0"/>
              </a:spcBef>
              <a:spcAft>
                <a:spcPts val="0"/>
              </a:spcAft>
              <a:buNone/>
            </a:pPr>
            <a:endParaRPr sz="2000">
              <a:solidFill>
                <a:schemeClr val="dk1"/>
              </a:solidFill>
              <a:latin typeface="Cambria"/>
              <a:ea typeface="Cambria"/>
              <a:cs typeface="Cambria"/>
              <a:sym typeface="Cambria"/>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8"/>
          <p:cNvSpPr txBox="1">
            <a:spLocks noGrp="1"/>
          </p:cNvSpPr>
          <p:nvPr>
            <p:ph type="title"/>
          </p:nvPr>
        </p:nvSpPr>
        <p:spPr>
          <a:xfrm>
            <a:off x="186414" y="1083738"/>
            <a:ext cx="10164085" cy="487391"/>
          </a:xfrm>
          <a:prstGeom prst="rect">
            <a:avLst/>
          </a:prstGeom>
          <a:noFill/>
          <a:ln>
            <a:noFill/>
          </a:ln>
        </p:spPr>
        <p:txBody>
          <a:bodyPr spcFirstLastPara="1" wrap="square" lIns="0" tIns="116900" rIns="0" bIns="0" anchor="ctr" anchorCtr="0">
            <a:spAutoFit/>
          </a:bodyPr>
          <a:lstStyle/>
          <a:p>
            <a:pPr marL="492125" lvl="0" indent="0" algn="l" rtl="0">
              <a:lnSpc>
                <a:spcPct val="10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Steps to Prepare an Android Application for Localization</a:t>
            </a:r>
            <a:endParaRPr sz="2400" b="1" dirty="0">
              <a:latin typeface="Cambria"/>
              <a:ea typeface="Cambria"/>
              <a:cs typeface="Cambria"/>
              <a:sym typeface="Cambria"/>
            </a:endParaRPr>
          </a:p>
        </p:txBody>
      </p:sp>
      <p:sp>
        <p:nvSpPr>
          <p:cNvPr id="439" name="Google Shape;439;p48"/>
          <p:cNvSpPr/>
          <p:nvPr/>
        </p:nvSpPr>
        <p:spPr>
          <a:xfrm>
            <a:off x="990600" y="2133600"/>
            <a:ext cx="9982200" cy="1692771"/>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b="1">
                <a:solidFill>
                  <a:schemeClr val="dk1"/>
                </a:solidFill>
                <a:latin typeface="Cambria"/>
                <a:ea typeface="Cambria"/>
                <a:cs typeface="Cambria"/>
                <a:sym typeface="Cambria"/>
              </a:rPr>
              <a:t>Example of localized currency formatting</a:t>
            </a:r>
            <a:r>
              <a:rPr lang="en-US" sz="2000">
                <a:solidFill>
                  <a:schemeClr val="dk1"/>
                </a:solidFill>
                <a:latin typeface="Cambria"/>
                <a:ea typeface="Cambria"/>
                <a:cs typeface="Cambria"/>
                <a:sym typeface="Cambria"/>
              </a:rPr>
              <a:t>:</a:t>
            </a:r>
            <a:endParaRPr/>
          </a:p>
          <a:p>
            <a:pPr marL="0" marR="0" lvl="0" indent="0" algn="l" rtl="0">
              <a:spcBef>
                <a:spcPts val="0"/>
              </a:spcBef>
              <a:spcAft>
                <a:spcPts val="0"/>
              </a:spcAft>
              <a:buNone/>
            </a:pPr>
            <a:endParaRPr sz="2000">
              <a:solidFill>
                <a:schemeClr val="dk1"/>
              </a:solidFill>
              <a:latin typeface="Cambria"/>
              <a:ea typeface="Cambria"/>
              <a:cs typeface="Cambria"/>
              <a:sym typeface="Cambria"/>
            </a:endParaRPr>
          </a:p>
          <a:p>
            <a:pPr marL="0" marR="0" lvl="0" indent="0" algn="l" rtl="0">
              <a:spcBef>
                <a:spcPts val="0"/>
              </a:spcBef>
              <a:spcAft>
                <a:spcPts val="0"/>
              </a:spcAft>
              <a:buNone/>
            </a:pPr>
            <a:r>
              <a:rPr lang="en-US" sz="2000">
                <a:solidFill>
                  <a:schemeClr val="dk1"/>
                </a:solidFill>
                <a:latin typeface="Cambria"/>
                <a:ea typeface="Cambria"/>
                <a:cs typeface="Cambria"/>
                <a:sym typeface="Cambria"/>
              </a:rPr>
              <a:t>NumberFormat currencyFormat = NumberFormat.getCurrencyInstance(currentLocale);</a:t>
            </a:r>
            <a:endParaRPr/>
          </a:p>
          <a:p>
            <a:pPr marL="0" marR="0" lvl="0" indent="0" algn="l" rtl="0">
              <a:spcBef>
                <a:spcPts val="0"/>
              </a:spcBef>
              <a:spcAft>
                <a:spcPts val="0"/>
              </a:spcAft>
              <a:buNone/>
            </a:pPr>
            <a:r>
              <a:rPr lang="en-US" sz="2000">
                <a:solidFill>
                  <a:schemeClr val="dk1"/>
                </a:solidFill>
                <a:latin typeface="Cambria"/>
                <a:ea typeface="Cambria"/>
                <a:cs typeface="Cambria"/>
                <a:sym typeface="Cambria"/>
              </a:rPr>
              <a:t>String formattedCurrency = currencyFormat.format(1234.56);</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49"/>
          <p:cNvSpPr txBox="1">
            <a:spLocks noGrp="1"/>
          </p:cNvSpPr>
          <p:nvPr>
            <p:ph type="title"/>
          </p:nvPr>
        </p:nvSpPr>
        <p:spPr>
          <a:xfrm>
            <a:off x="196503" y="1103122"/>
            <a:ext cx="8726677" cy="425835"/>
          </a:xfrm>
          <a:prstGeom prst="rect">
            <a:avLst/>
          </a:prstGeom>
          <a:noFill/>
          <a:ln>
            <a:noFill/>
          </a:ln>
        </p:spPr>
        <p:txBody>
          <a:bodyPr spcFirstLastPara="1" wrap="square" lIns="0" tIns="116900" rIns="0" bIns="0" anchor="ctr" anchorCtr="0">
            <a:spAutoFit/>
          </a:bodyPr>
          <a:lstStyle/>
          <a:p>
            <a:pPr marL="492125" lvl="0" indent="0" algn="l" rtl="0">
              <a:lnSpc>
                <a:spcPct val="100000"/>
              </a:lnSpc>
              <a:spcBef>
                <a:spcPts val="0"/>
              </a:spcBef>
              <a:spcAft>
                <a:spcPts val="0"/>
              </a:spcAft>
              <a:buClr>
                <a:schemeClr val="dk1"/>
              </a:buClr>
              <a:buSzPts val="2000"/>
              <a:buFont typeface="Cambria"/>
              <a:buNone/>
            </a:pPr>
            <a:r>
              <a:rPr lang="en-US" sz="2000" b="1" dirty="0">
                <a:latin typeface="Cambria"/>
                <a:ea typeface="Cambria"/>
                <a:cs typeface="Cambria"/>
                <a:sym typeface="Cambria"/>
              </a:rPr>
              <a:t>Steps to Prepare an Android Application for Localization</a:t>
            </a:r>
            <a:endParaRPr sz="2000" b="1" dirty="0">
              <a:latin typeface="Cambria"/>
              <a:ea typeface="Cambria"/>
              <a:cs typeface="Cambria"/>
              <a:sym typeface="Cambria"/>
            </a:endParaRPr>
          </a:p>
        </p:txBody>
      </p:sp>
      <p:sp>
        <p:nvSpPr>
          <p:cNvPr id="446" name="Google Shape;446;p49"/>
          <p:cNvSpPr/>
          <p:nvPr/>
        </p:nvSpPr>
        <p:spPr>
          <a:xfrm>
            <a:off x="990600" y="2133600"/>
            <a:ext cx="9982200" cy="317009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a:solidFill>
                  <a:schemeClr val="dk1"/>
                </a:solidFill>
                <a:latin typeface="Cambria"/>
                <a:ea typeface="Cambria"/>
                <a:cs typeface="Cambria"/>
                <a:sym typeface="Cambria"/>
              </a:rPr>
              <a:t>5</a:t>
            </a:r>
            <a:r>
              <a:rPr lang="en-US" sz="2000" b="1">
                <a:solidFill>
                  <a:schemeClr val="dk1"/>
                </a:solidFill>
                <a:latin typeface="Cambria"/>
                <a:ea typeface="Cambria"/>
                <a:cs typeface="Cambria"/>
                <a:sym typeface="Cambria"/>
              </a:rPr>
              <a:t>. Test Localization </a:t>
            </a:r>
            <a:r>
              <a:rPr lang="en-US" sz="2000">
                <a:solidFill>
                  <a:schemeClr val="dk1"/>
                </a:solidFill>
                <a:latin typeface="Cambria"/>
                <a:ea typeface="Cambria"/>
                <a:cs typeface="Cambria"/>
                <a:sym typeface="Cambria"/>
              </a:rPr>
              <a:t>Use Android's built-in Emulator or a real device to test localization by switching the language in device settings:</a:t>
            </a:r>
            <a:endParaRPr/>
          </a:p>
          <a:p>
            <a:pPr marL="342900" marR="0" lvl="0" indent="-215900" algn="just" rtl="0">
              <a:spcBef>
                <a:spcPts val="0"/>
              </a:spcBef>
              <a:spcAft>
                <a:spcPts val="0"/>
              </a:spcAft>
              <a:buClr>
                <a:schemeClr val="dk1"/>
              </a:buClr>
              <a:buSzPts val="2000"/>
              <a:buFont typeface="Arial"/>
              <a:buNone/>
            </a:pPr>
            <a:endParaRPr sz="2000">
              <a:solidFill>
                <a:schemeClr val="dk1"/>
              </a:solidFill>
              <a:latin typeface="Cambria"/>
              <a:ea typeface="Cambria"/>
              <a:cs typeface="Cambria"/>
              <a:sym typeface="Cambria"/>
            </a:endParaRPr>
          </a:p>
          <a:p>
            <a:pPr marL="342900" marR="0" lvl="0" indent="-342900" algn="just" rtl="0">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Settings &gt; System &gt; Languages &amp; Input &gt; Languages.</a:t>
            </a:r>
            <a:endParaRPr/>
          </a:p>
          <a:p>
            <a:pPr marL="342900" marR="0" lvl="0" indent="-215900" algn="just" rtl="0">
              <a:spcBef>
                <a:spcPts val="0"/>
              </a:spcBef>
              <a:spcAft>
                <a:spcPts val="0"/>
              </a:spcAft>
              <a:buClr>
                <a:schemeClr val="dk1"/>
              </a:buClr>
              <a:buSzPts val="2000"/>
              <a:buFont typeface="Arial"/>
              <a:buNone/>
            </a:pPr>
            <a:endParaRPr sz="2000">
              <a:solidFill>
                <a:schemeClr val="dk1"/>
              </a:solidFill>
              <a:latin typeface="Cambria"/>
              <a:ea typeface="Cambria"/>
              <a:cs typeface="Cambria"/>
              <a:sym typeface="Cambria"/>
            </a:endParaRPr>
          </a:p>
          <a:p>
            <a:pPr marL="342900" marR="0" lvl="0" indent="-342900" algn="just" rtl="0">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Simulate Locale Changes:</a:t>
            </a:r>
            <a:endParaRPr/>
          </a:p>
          <a:p>
            <a:pPr marL="342900" marR="0" lvl="0" indent="-215900" algn="just" rtl="0">
              <a:spcBef>
                <a:spcPts val="0"/>
              </a:spcBef>
              <a:spcAft>
                <a:spcPts val="0"/>
              </a:spcAft>
              <a:buClr>
                <a:schemeClr val="dk1"/>
              </a:buClr>
              <a:buSzPts val="2000"/>
              <a:buFont typeface="Arial"/>
              <a:buNone/>
            </a:pPr>
            <a:endParaRPr sz="2000">
              <a:solidFill>
                <a:schemeClr val="dk1"/>
              </a:solidFill>
              <a:latin typeface="Cambria"/>
              <a:ea typeface="Cambria"/>
              <a:cs typeface="Cambria"/>
              <a:sym typeface="Cambria"/>
            </a:endParaRPr>
          </a:p>
          <a:p>
            <a:pPr marL="342900" marR="0" lvl="0" indent="-342900" algn="just" rtl="0">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Use Android Studio's Layout Editor to preview layouts in different locales.</a:t>
            </a:r>
            <a:endParaRPr/>
          </a:p>
          <a:p>
            <a:pPr marL="342900" marR="0" lvl="0" indent="-215900" algn="just" rtl="0">
              <a:spcBef>
                <a:spcPts val="0"/>
              </a:spcBef>
              <a:spcAft>
                <a:spcPts val="0"/>
              </a:spcAft>
              <a:buClr>
                <a:schemeClr val="dk1"/>
              </a:buClr>
              <a:buSzPts val="2000"/>
              <a:buFont typeface="Arial"/>
              <a:buNone/>
            </a:pPr>
            <a:endParaRPr sz="2000">
              <a:solidFill>
                <a:schemeClr val="dk1"/>
              </a:solidFill>
              <a:latin typeface="Cambria"/>
              <a:ea typeface="Cambria"/>
              <a:cs typeface="Cambria"/>
              <a:sym typeface="Cambria"/>
            </a:endParaRPr>
          </a:p>
          <a:p>
            <a:pPr marL="342900" marR="0" lvl="0" indent="-342900" algn="just" rtl="0">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Go to Design View &gt; Tools &gt; Preview Locale.</a:t>
            </a:r>
            <a:endParaRPr sz="2000">
              <a:solidFill>
                <a:schemeClr val="dk1"/>
              </a:solidFill>
              <a:latin typeface="Cambria"/>
              <a:ea typeface="Cambria"/>
              <a:cs typeface="Cambria"/>
              <a:sym typeface="Cambria"/>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50"/>
          <p:cNvSpPr txBox="1">
            <a:spLocks noGrp="1"/>
          </p:cNvSpPr>
          <p:nvPr>
            <p:ph type="title"/>
          </p:nvPr>
        </p:nvSpPr>
        <p:spPr>
          <a:xfrm>
            <a:off x="369294" y="1279757"/>
            <a:ext cx="10164085" cy="487391"/>
          </a:xfrm>
          <a:prstGeom prst="rect">
            <a:avLst/>
          </a:prstGeom>
          <a:noFill/>
          <a:ln>
            <a:noFill/>
          </a:ln>
        </p:spPr>
        <p:txBody>
          <a:bodyPr spcFirstLastPara="1" wrap="square" lIns="0" tIns="116900" rIns="0" bIns="0" anchor="ctr" anchorCtr="0">
            <a:spAutoFit/>
          </a:bodyPr>
          <a:lstStyle/>
          <a:p>
            <a:pPr marL="492125" lvl="0" indent="0" algn="l" rtl="0">
              <a:lnSpc>
                <a:spcPct val="100000"/>
              </a:lnSpc>
              <a:spcBef>
                <a:spcPts val="0"/>
              </a:spcBef>
              <a:spcAft>
                <a:spcPts val="0"/>
              </a:spcAft>
              <a:buClr>
                <a:schemeClr val="dk1"/>
              </a:buClr>
              <a:buSzPts val="2400"/>
              <a:buFont typeface="Cambria"/>
              <a:buNone/>
            </a:pPr>
            <a:r>
              <a:rPr lang="en-US" sz="2400" b="1" dirty="0">
                <a:latin typeface="Cambria"/>
                <a:ea typeface="Cambria"/>
                <a:cs typeface="Cambria"/>
                <a:sym typeface="Cambria"/>
              </a:rPr>
              <a:t>Benefits of Localization</a:t>
            </a:r>
            <a:endParaRPr sz="2400" b="1" dirty="0">
              <a:latin typeface="Cambria"/>
              <a:ea typeface="Cambria"/>
              <a:cs typeface="Cambria"/>
              <a:sym typeface="Cambria"/>
            </a:endParaRPr>
          </a:p>
        </p:txBody>
      </p:sp>
      <p:sp>
        <p:nvSpPr>
          <p:cNvPr id="453" name="Google Shape;453;p50"/>
          <p:cNvSpPr/>
          <p:nvPr/>
        </p:nvSpPr>
        <p:spPr>
          <a:xfrm>
            <a:off x="990600" y="2133600"/>
            <a:ext cx="9982200" cy="224676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b="1">
                <a:solidFill>
                  <a:schemeClr val="dk1"/>
                </a:solidFill>
                <a:latin typeface="Cambria"/>
                <a:ea typeface="Cambria"/>
                <a:cs typeface="Cambria"/>
                <a:sym typeface="Cambria"/>
              </a:rPr>
              <a:t>Wider Audience: </a:t>
            </a:r>
            <a:r>
              <a:rPr lang="en-US" sz="2000">
                <a:solidFill>
                  <a:schemeClr val="dk1"/>
                </a:solidFill>
                <a:latin typeface="Cambria"/>
                <a:ea typeface="Cambria"/>
                <a:cs typeface="Cambria"/>
                <a:sym typeface="Cambria"/>
              </a:rPr>
              <a:t>Reach users from different countries and cultures.</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mbria"/>
              <a:ea typeface="Cambria"/>
              <a:cs typeface="Cambria"/>
              <a:sym typeface="Cambria"/>
            </a:endParaRPr>
          </a:p>
          <a:p>
            <a:pPr marL="342900" marR="0" lvl="0" indent="-342900" algn="l" rtl="0">
              <a:spcBef>
                <a:spcPts val="0"/>
              </a:spcBef>
              <a:spcAft>
                <a:spcPts val="0"/>
              </a:spcAft>
              <a:buClr>
                <a:schemeClr val="dk1"/>
              </a:buClr>
              <a:buSzPts val="2000"/>
              <a:buFont typeface="Arial"/>
              <a:buChar char="•"/>
            </a:pPr>
            <a:r>
              <a:rPr lang="en-US" sz="2000" b="1">
                <a:solidFill>
                  <a:schemeClr val="dk1"/>
                </a:solidFill>
                <a:latin typeface="Cambria"/>
                <a:ea typeface="Cambria"/>
                <a:cs typeface="Cambria"/>
                <a:sym typeface="Cambria"/>
              </a:rPr>
              <a:t>Improved User Experience: </a:t>
            </a:r>
            <a:r>
              <a:rPr lang="en-US" sz="2000">
                <a:solidFill>
                  <a:schemeClr val="dk1"/>
                </a:solidFill>
                <a:latin typeface="Cambria"/>
                <a:ea typeface="Cambria"/>
                <a:cs typeface="Cambria"/>
                <a:sym typeface="Cambria"/>
              </a:rPr>
              <a:t>Users feel more comfortable using apps in their native language.</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mbria"/>
              <a:ea typeface="Cambria"/>
              <a:cs typeface="Cambria"/>
              <a:sym typeface="Cambria"/>
            </a:endParaRPr>
          </a:p>
          <a:p>
            <a:pPr marL="342900" marR="0" lvl="0" indent="-342900" algn="l" rtl="0">
              <a:spcBef>
                <a:spcPts val="0"/>
              </a:spcBef>
              <a:spcAft>
                <a:spcPts val="0"/>
              </a:spcAft>
              <a:buClr>
                <a:schemeClr val="dk1"/>
              </a:buClr>
              <a:buSzPts val="2000"/>
              <a:buFont typeface="Arial"/>
              <a:buChar char="•"/>
            </a:pPr>
            <a:r>
              <a:rPr lang="en-US" sz="2000" b="1">
                <a:solidFill>
                  <a:schemeClr val="dk1"/>
                </a:solidFill>
                <a:latin typeface="Cambria"/>
                <a:ea typeface="Cambria"/>
                <a:cs typeface="Cambria"/>
                <a:sym typeface="Cambria"/>
              </a:rPr>
              <a:t>Higher Engagement: </a:t>
            </a:r>
            <a:r>
              <a:rPr lang="en-US" sz="2000">
                <a:solidFill>
                  <a:schemeClr val="dk1"/>
                </a:solidFill>
                <a:latin typeface="Cambria"/>
                <a:ea typeface="Cambria"/>
                <a:cs typeface="Cambria"/>
                <a:sym typeface="Cambria"/>
              </a:rPr>
              <a:t>Users are more likely to engage and spend time in apps tailored to their region.</a:t>
            </a:r>
            <a:endParaRPr sz="2000">
              <a:solidFill>
                <a:schemeClr val="dk1"/>
              </a:solidFill>
              <a:latin typeface="Cambria"/>
              <a:ea typeface="Cambria"/>
              <a:cs typeface="Cambria"/>
              <a:sym typeface="Cambria"/>
            </a:endParaRPr>
          </a:p>
        </p:txBody>
      </p:sp>
      <p:pic>
        <p:nvPicPr>
          <p:cNvPr id="5" name="Picture 4"/>
          <p:cNvPicPr>
            <a:picLocks noChangeAspect="1"/>
          </p:cNvPicPr>
          <p:nvPr/>
        </p:nvPicPr>
        <p:blipFill>
          <a:blip r:embed="rId3"/>
          <a:stretch>
            <a:fillRect/>
          </a:stretch>
        </p:blipFill>
        <p:spPr>
          <a:xfrm>
            <a:off x="140677" y="61909"/>
            <a:ext cx="12051323" cy="7144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2943</Words>
  <Application>Microsoft Office PowerPoint</Application>
  <PresentationFormat>Widescreen</PresentationFormat>
  <Paragraphs>278</Paragraphs>
  <Slides>51</Slides>
  <Notes>51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Noto Sans Symbols</vt:lpstr>
      <vt:lpstr>Cambria</vt:lpstr>
      <vt:lpstr>Calibri</vt:lpstr>
      <vt:lpstr>Gill Sans</vt:lpstr>
      <vt:lpstr>Office Theme</vt:lpstr>
      <vt:lpstr>PowerPoint Presentation</vt:lpstr>
      <vt:lpstr>PowerPoint Presentation</vt:lpstr>
      <vt:lpstr>Outline</vt:lpstr>
      <vt:lpstr>Android Components</vt:lpstr>
      <vt:lpstr>Android Components</vt:lpstr>
      <vt:lpstr>Context</vt:lpstr>
      <vt:lpstr>Activity</vt:lpstr>
      <vt:lpstr>Activity</vt:lpstr>
      <vt:lpstr>Activity</vt:lpstr>
      <vt:lpstr>Activity</vt:lpstr>
      <vt:lpstr>Activity</vt:lpstr>
      <vt:lpstr>Activity</vt:lpstr>
      <vt:lpstr>Intent</vt:lpstr>
      <vt:lpstr>Intent</vt:lpstr>
      <vt:lpstr>Intent</vt:lpstr>
      <vt:lpstr>Service</vt:lpstr>
      <vt:lpstr>Service</vt:lpstr>
      <vt:lpstr>Service</vt:lpstr>
      <vt:lpstr>Service – Foreground services</vt:lpstr>
      <vt:lpstr>Service – background services</vt:lpstr>
      <vt:lpstr>Service – background services</vt:lpstr>
      <vt:lpstr>Service – background services</vt:lpstr>
      <vt:lpstr>Service – background services</vt:lpstr>
      <vt:lpstr>Service - Bound Services</vt:lpstr>
      <vt:lpstr>Service</vt:lpstr>
      <vt:lpstr>Service</vt:lpstr>
      <vt:lpstr>Content Provider</vt:lpstr>
      <vt:lpstr>Content Provider</vt:lpstr>
      <vt:lpstr>Content Provider</vt:lpstr>
      <vt:lpstr>Content Provider</vt:lpstr>
      <vt:lpstr>Content Provider</vt:lpstr>
      <vt:lpstr>Broadcast Receiver</vt:lpstr>
      <vt:lpstr>Broadcast Receiver</vt:lpstr>
      <vt:lpstr>Resource (res folder structure)</vt:lpstr>
      <vt:lpstr>String</vt:lpstr>
      <vt:lpstr>Color</vt:lpstr>
      <vt:lpstr>Color</vt:lpstr>
      <vt:lpstr>Drawable</vt:lpstr>
      <vt:lpstr>Styles </vt:lpstr>
      <vt:lpstr>Styles – Using styles </vt:lpstr>
      <vt:lpstr>Theme </vt:lpstr>
      <vt:lpstr>Localization: Preparing an Application for Localization</vt:lpstr>
      <vt:lpstr>Steps to Prepare an Android Application for Localization</vt:lpstr>
      <vt:lpstr>Steps to Prepare an Android Application for Localization</vt:lpstr>
      <vt:lpstr>Steps to Prepare an Android Application for Localization</vt:lpstr>
      <vt:lpstr>Steps to Prepare an Android Application for Localization</vt:lpstr>
      <vt:lpstr>Steps to Prepare an Android Application for Localization</vt:lpstr>
      <vt:lpstr>Steps to Prepare an Android Application for Localization</vt:lpstr>
      <vt:lpstr>Steps to Prepare an Android Application for Localization</vt:lpstr>
      <vt:lpstr>Steps to Prepare an Android Application for Localization</vt:lpstr>
      <vt:lpstr>Benefits of Localization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UNIT:- 02 </dc:title>
  <dc:creator>admin</dc:creator>
  <cp:lastModifiedBy>Ashwani Mishra</cp:lastModifiedBy>
  <cp:revision>14</cp:revision>
  <dcterms:created xsi:type="dcterms:W3CDTF">2024-12-30T07:42:19Z</dcterms:created>
  <dcterms:modified xsi:type="dcterms:W3CDTF">2025-12-10T16:13:24Z</dcterms:modified>
</cp:coreProperties>
</file>